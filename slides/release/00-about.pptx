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51" r:id="rId1"/>
  </p:sldMasterIdLst>
  <p:notesMasterIdLst>
    <p:notesMasterId r:id="rId15"/>
  </p:notesMasterIdLst>
  <p:handoutMasterIdLst>
    <p:handoutMasterId r:id="rId16"/>
  </p:handout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372600" cy="8297863"/>
  <p:notesSz cx="7315200" cy="96012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1pPr>
    <a:lvl2pPr marL="457200" algn="l" rtl="0" fontAlgn="base">
      <a:spcBef>
        <a:spcPct val="0"/>
      </a:spcBef>
      <a:spcAft>
        <a:spcPct val="0"/>
      </a:spcAft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2pPr>
    <a:lvl3pPr marL="914400" algn="l" rtl="0" fontAlgn="base">
      <a:spcBef>
        <a:spcPct val="0"/>
      </a:spcBef>
      <a:spcAft>
        <a:spcPct val="0"/>
      </a:spcAft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3pPr>
    <a:lvl4pPr marL="1371600" algn="l" rtl="0" fontAlgn="base">
      <a:spcBef>
        <a:spcPct val="0"/>
      </a:spcBef>
      <a:spcAft>
        <a:spcPct val="0"/>
      </a:spcAft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4pPr>
    <a:lvl5pPr marL="1828800" algn="l" rtl="0" fontAlgn="base">
      <a:spcBef>
        <a:spcPct val="0"/>
      </a:spcBef>
      <a:spcAft>
        <a:spcPct val="0"/>
      </a:spcAft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5pPr>
    <a:lvl6pPr marL="2286000" algn="l" defTabSz="914400" rtl="0" eaLnBrk="1" latinLnBrk="0" hangingPunct="1"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6pPr>
    <a:lvl7pPr marL="2743200" algn="l" defTabSz="914400" rtl="0" eaLnBrk="1" latinLnBrk="0" hangingPunct="1"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7pPr>
    <a:lvl8pPr marL="3200400" algn="l" defTabSz="914400" rtl="0" eaLnBrk="1" latinLnBrk="0" hangingPunct="1"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8pPr>
    <a:lvl9pPr marL="3657600" algn="l" defTabSz="914400" rtl="0" eaLnBrk="1" latinLnBrk="0" hangingPunct="1"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9pPr>
  </p:defaultTextStyle>
  <p:extLst>
    <p:ext uri="{EFAFB233-063F-42B5-8137-9DF3F51BA10A}">
      <p15:sldGuideLst xmlns:p15="http://schemas.microsoft.com/office/powerpoint/2012/main">
        <p15:guide id="1" orient="horz" pos="2614" userDrawn="1">
          <p15:clr>
            <a:srgbClr val="A4A3A4"/>
          </p15:clr>
        </p15:guide>
        <p15:guide id="2" pos="295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24">
          <p15:clr>
            <a:srgbClr val="A4A3A4"/>
          </p15:clr>
        </p15:guide>
        <p15:guide id="2" pos="2308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ary Conlee" initials="MC" lastIdx="1" clrIdx="0"/>
  <p:cmAuthor id="2" name="Mark Kerzner" initials="MK" lastIdx="6" clrIdx="1"/>
  <p:cmAuthor id="3" name="Mary Beth Conlee" initials="MBC" lastIdx="7" clrIdx="2"/>
  <p:cmAuthor id="4" name="Michelle" initials="M" lastIdx="5" clrIdx="3"/>
  <p:cmAuthor id="5" name="Tricia Murphy" initials="TM" lastIdx="4" clrIdx="4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A1A1A"/>
    <a:srgbClr val="D6B8EB"/>
    <a:srgbClr val="A77EC7"/>
    <a:srgbClr val="B59BC7"/>
    <a:srgbClr val="C7AAD9"/>
    <a:srgbClr val="C89EDF"/>
    <a:srgbClr val="BD83DF"/>
    <a:srgbClr val="CB89DF"/>
    <a:srgbClr val="CA87D1"/>
    <a:srgbClr val="CF86D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6959" autoAdjust="0"/>
    <p:restoredTop sz="86051" autoAdjust="0"/>
  </p:normalViewPr>
  <p:slideViewPr>
    <p:cSldViewPr>
      <p:cViewPr varScale="1">
        <p:scale>
          <a:sx n="85" d="100"/>
          <a:sy n="85" d="100"/>
        </p:scale>
        <p:origin x="3440" y="184"/>
      </p:cViewPr>
      <p:guideLst>
        <p:guide orient="horz" pos="2614"/>
        <p:guide pos="295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85" d="100"/>
        <a:sy n="85" d="100"/>
      </p:scale>
      <p:origin x="0" y="0"/>
    </p:cViewPr>
  </p:sorterViewPr>
  <p:notesViewPr>
    <p:cSldViewPr>
      <p:cViewPr>
        <p:scale>
          <a:sx n="80" d="100"/>
          <a:sy n="80" d="100"/>
        </p:scale>
        <p:origin x="3296" y="-56"/>
      </p:cViewPr>
      <p:guideLst>
        <p:guide orient="horz" pos="3024"/>
        <p:guide pos="2308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handoutMaster" Target="handoutMasters/handout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123363"/>
            <a:ext cx="3170238" cy="477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6603" tIns="48303" rIns="96603" bIns="48303" numCol="1" anchor="b" anchorCtr="0" compatLnSpc="1">
            <a:prstTxWarp prst="textNoShape">
              <a:avLst/>
            </a:prstTxWarp>
          </a:bodyPr>
          <a:lstStyle>
            <a:lvl1pPr defTabSz="965200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r>
              <a:rPr lang="en-US" dirty="0"/>
              <a:t>Copyright © 2017 Elephant Scale. All rights reserved.</a:t>
            </a: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144963" y="9123363"/>
            <a:ext cx="3170237" cy="477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6603" tIns="48303" rIns="96603" bIns="48303" numCol="1" anchor="b" anchorCtr="0" compatLnSpc="1">
            <a:prstTxWarp prst="textNoShape">
              <a:avLst/>
            </a:prstTxWarp>
          </a:bodyPr>
          <a:lstStyle>
            <a:lvl1pPr algn="r" defTabSz="965200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fld id="{97E62689-8C7D-4291-A094-4E689FEC4C3B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9291525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68375" y="473075"/>
            <a:ext cx="5365750" cy="4751388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38280" name="Rectangle 8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1365250" y="9388475"/>
            <a:ext cx="4578350" cy="173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b" anchorCtr="1" compatLnSpc="1">
            <a:prstTxWarp prst="textNoShape">
              <a:avLst/>
            </a:prstTxWarp>
          </a:bodyPr>
          <a:lstStyle>
            <a:lvl1pPr algn="ctr" defTabSz="965200" eaLnBrk="0" hangingPunct="0">
              <a:defRPr sz="900">
                <a:latin typeface="Arial" charset="0"/>
              </a:defRPr>
            </a:lvl1pPr>
          </a:lstStyle>
          <a:p>
            <a:pPr>
              <a:defRPr/>
            </a:pPr>
            <a:r>
              <a:rPr lang="en-US" dirty="0"/>
              <a:t>Copyright © 2017 Elephant Scale. All rights reserved.</a:t>
            </a:r>
          </a:p>
        </p:txBody>
      </p:sp>
      <p:sp>
        <p:nvSpPr>
          <p:cNvPr id="438281" name="Rectangle 9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6400800" y="9388475"/>
            <a:ext cx="554038" cy="173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r" defTabSz="965200" eaLnBrk="0" hangingPunct="0">
              <a:defRPr b="1">
                <a:latin typeface="Arial" charset="0"/>
              </a:defRPr>
            </a:lvl1pPr>
          </a:lstStyle>
          <a:p>
            <a:pPr>
              <a:defRPr/>
            </a:pPr>
            <a:fld id="{EFAADD5D-AF76-45EE-AA5F-6DAC73BF167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438306" name="Text Box 34"/>
          <p:cNvSpPr txBox="1">
            <a:spLocks noChangeArrowheads="1"/>
          </p:cNvSpPr>
          <p:nvPr/>
        </p:nvSpPr>
        <p:spPr bwMode="auto">
          <a:xfrm>
            <a:off x="271463" y="5176838"/>
            <a:ext cx="617537" cy="25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6386" tIns="48194" rIns="96386" bIns="48194"/>
          <a:lstStyle/>
          <a:p>
            <a:pPr defTabSz="960438">
              <a:defRPr/>
            </a:pPr>
            <a:r>
              <a:rPr lang="en-US" sz="1200" b="1" u="sng" dirty="0">
                <a:latin typeface="Times New Roman" pitchFamily="18" charset="0"/>
                <a:cs typeface="Times New Roman" pitchFamily="18" charset="0"/>
              </a:rPr>
              <a:t>Notes:</a:t>
            </a:r>
          </a:p>
        </p:txBody>
      </p:sp>
      <p:sp>
        <p:nvSpPr>
          <p:cNvPr id="438309" name="Rectangle 37"/>
          <p:cNvSpPr>
            <a:spLocks noGrp="1" noChangeArrowheads="1"/>
          </p:cNvSpPr>
          <p:nvPr>
            <p:ph type="body" sz="quarter" idx="3"/>
          </p:nvPr>
        </p:nvSpPr>
        <p:spPr bwMode="gray">
          <a:xfrm>
            <a:off x="322263" y="5462588"/>
            <a:ext cx="6607175" cy="37512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537" tIns="45768" rIns="91537" bIns="45768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noProof="0" dirty="0"/>
          </a:p>
        </p:txBody>
      </p:sp>
      <p:sp>
        <p:nvSpPr>
          <p:cNvPr id="438317" name="Line 45"/>
          <p:cNvSpPr>
            <a:spLocks noChangeShapeType="1"/>
          </p:cNvSpPr>
          <p:nvPr/>
        </p:nvSpPr>
        <p:spPr bwMode="auto">
          <a:xfrm>
            <a:off x="322263" y="9324975"/>
            <a:ext cx="6653212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ffectLst/>
        </p:spPr>
        <p:txBody>
          <a:bodyPr/>
          <a:lstStyle/>
          <a:p>
            <a:pPr algn="ctr">
              <a:spcBef>
                <a:spcPct val="30000"/>
              </a:spcBef>
              <a:defRPr/>
            </a:pPr>
            <a:endParaRPr lang="en-US" dirty="0">
              <a:latin typeface="Garamond" pitchFamily="-110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53744030"/>
      </p:ext>
    </p:extLst>
  </p:cSld>
  <p:clrMap bg1="lt1" tx1="dk1" bg2="lt2" tx2="dk2" accent1="accent1" accent2="accent2" accent3="accent3" accent4="accent4" accent5="accent5" accent6="accent6" hlink="hlink" folHlink="folHlink"/>
  <p:hf dt="0"/>
  <p:notesStyle>
    <a:lvl1pPr marL="0" indent="0" algn="l" rtl="0" eaLnBrk="0" fontAlgn="base" hangingPunct="0">
      <a:spcBef>
        <a:spcPct val="30000"/>
      </a:spcBef>
      <a:spcAft>
        <a:spcPct val="0"/>
      </a:spcAft>
      <a:buSzPct val="65000"/>
      <a:buFont typeface="Wingdings" pitchFamily="2" charset="2"/>
      <a:buNone/>
      <a:defRPr sz="1200" kern="1200">
        <a:solidFill>
          <a:schemeClr val="tx1"/>
        </a:solidFill>
        <a:latin typeface="Times New Roman" pitchFamily="-110" charset="0"/>
        <a:ea typeface="ＭＳ Ｐゴシック" pitchFamily="-110" charset="-128"/>
        <a:cs typeface="ＭＳ Ｐゴシック" pitchFamily="-110" charset="-128"/>
      </a:defRPr>
    </a:lvl1pPr>
    <a:lvl2pPr marL="282575" indent="0" algn="l" rtl="0" eaLnBrk="0" fontAlgn="base" hangingPunct="0">
      <a:spcBef>
        <a:spcPct val="30000"/>
      </a:spcBef>
      <a:spcAft>
        <a:spcPct val="0"/>
      </a:spcAft>
      <a:buNone/>
      <a:defRPr sz="1200" kern="1200">
        <a:solidFill>
          <a:schemeClr val="tx1"/>
        </a:solidFill>
        <a:latin typeface="Times New Roman" pitchFamily="-110" charset="0"/>
        <a:ea typeface="ＭＳ Ｐゴシック" pitchFamily="-110" charset="-128"/>
        <a:cs typeface="ＭＳ Ｐゴシック"/>
      </a:defRPr>
    </a:lvl2pPr>
    <a:lvl3pPr marL="744538" indent="-173038" algn="l" rtl="0" eaLnBrk="0" fontAlgn="base" hangingPunct="0">
      <a:spcBef>
        <a:spcPct val="30000"/>
      </a:spcBef>
      <a:spcAft>
        <a:spcPct val="0"/>
      </a:spcAft>
      <a:buChar char="•"/>
      <a:defRPr sz="1200" kern="1200">
        <a:solidFill>
          <a:schemeClr val="tx1"/>
        </a:solidFill>
        <a:latin typeface="Times New Roman" pitchFamily="-110" charset="0"/>
        <a:ea typeface="ＭＳ Ｐゴシック" pitchFamily="-110" charset="-128"/>
        <a:cs typeface="ＭＳ Ｐゴシック"/>
      </a:defRPr>
    </a:lvl3pPr>
    <a:lvl4pPr marL="1600200" indent="-228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-110" charset="0"/>
        <a:ea typeface="ＭＳ Ｐゴシック" pitchFamily="-110" charset="-128"/>
        <a:cs typeface="ＭＳ Ｐゴシック"/>
      </a:defRPr>
    </a:lvl4pPr>
    <a:lvl5pPr marL="2057400" indent="-228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-110" charset="0"/>
        <a:ea typeface="ＭＳ Ｐゴシック" pitchFamily="-110" charset="-128"/>
        <a:cs typeface="ＭＳ Ｐゴシック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Slide Number Placeholder 2"/>
          <p:cNvSpPr>
            <a:spLocks noGrp="1"/>
          </p:cNvSpPr>
          <p:nvPr>
            <p:ph type="sldNum" sz="quarter" idx="5"/>
          </p:nvPr>
        </p:nvSpPr>
        <p:spPr/>
      </p:sp>
      <p:sp>
        <p:nvSpPr>
          <p:cNvPr id="4" name="Notes Placeholder 3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 These four habits separate a useful AI habit from an expensive mistake. We make them second nature starting with Lab 01.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7"/>
          <p:cNvPicPr preferRelativeResize="0">
            <a:picLocks noChangeArrowheads="1"/>
          </p:cNvPicPr>
          <p:nvPr/>
        </p:nvPicPr>
        <p:blipFill rotWithShape="1">
          <a:blip r:embed="rId2"/>
          <a:srcRect t="19473"/>
          <a:stretch/>
        </p:blipFill>
        <p:spPr bwMode="auto">
          <a:xfrm>
            <a:off x="1" y="-1801"/>
            <a:ext cx="2498725" cy="83089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04898" name="Rectangle 2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2498726" y="4984481"/>
            <a:ext cx="6335713" cy="400685"/>
          </a:xfrm>
        </p:spPr>
        <p:txBody>
          <a:bodyPr>
            <a:spAutoFit/>
          </a:bodyPr>
          <a:lstStyle>
            <a:lvl1pPr marL="0" indent="0" algn="r">
              <a:buFont typeface="Monotype Sorts" pitchFamily="-110" charset="2"/>
              <a:buNone/>
              <a:defRPr sz="2000"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104900" name="Rectangle 4"/>
          <p:cNvSpPr>
            <a:spLocks noGrp="1" noChangeArrowheads="1"/>
          </p:cNvSpPr>
          <p:nvPr>
            <p:ph type="ctrTitle" sz="quarter"/>
          </p:nvPr>
        </p:nvSpPr>
        <p:spPr>
          <a:xfrm>
            <a:off x="704850" y="3226947"/>
            <a:ext cx="8121650" cy="1469414"/>
          </a:xfrm>
        </p:spPr>
        <p:txBody>
          <a:bodyPr lIns="91440" anchor="ctr"/>
          <a:lstStyle>
            <a:lvl1pPr algn="ctr" defTabSz="1825625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Copyright © 2017 Elephant Scale. All rights reserved.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7EF9825-4C23-4085-A4E3-B5565466BD91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4850" y="1"/>
            <a:ext cx="8667750" cy="83554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234950" y="994976"/>
            <a:ext cx="4375150" cy="68284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762500" y="994975"/>
            <a:ext cx="4375150" cy="332106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762500" y="4500439"/>
            <a:ext cx="4375150" cy="33229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40E4B02-67B9-4228-B08B-2561CEE6B94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l">
              <a:defRPr/>
            </a:pPr>
            <a:r>
              <a:rPr lang="en-US" dirty="0"/>
              <a:t>Copyright © 2017 Elephant Scale. All rights reserved.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4850" y="1"/>
            <a:ext cx="8667750" cy="83554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234950" y="994976"/>
            <a:ext cx="4375150" cy="68284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62500" y="994976"/>
            <a:ext cx="4375150" cy="68284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Rectangle 4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86CC632-9864-46F1-8EAB-FCD3BB9CEC9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l">
              <a:defRPr/>
            </a:pPr>
            <a:r>
              <a:rPr lang="en-US" dirty="0"/>
              <a:t>Copyright © 2017 Elephant Scale. All rights reserved.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gray"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234950" y="994976"/>
            <a:ext cx="8902700" cy="6828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007" tIns="46005" rIns="92007" bIns="46005" numCol="1" anchor="t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03876" name="Rectangle 4"/>
          <p:cNvSpPr>
            <a:spLocks noGrp="1" noChangeArrowheads="1"/>
          </p:cNvSpPr>
          <p:nvPr>
            <p:ph type="sldNum" sz="quarter" idx="4"/>
          </p:nvPr>
        </p:nvSpPr>
        <p:spPr bwMode="hidden">
          <a:xfrm>
            <a:off x="8777288" y="7961724"/>
            <a:ext cx="546100" cy="2727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r" eaLnBrk="0" hangingPunct="0">
              <a:defRPr b="1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fld id="{77EF9825-4C23-4085-A4E3-B5565466BD91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1103877" name="Rectangle 5"/>
          <p:cNvSpPr>
            <a:spLocks noGrp="1" noChangeArrowheads="1"/>
          </p:cNvSpPr>
          <p:nvPr>
            <p:ph type="ftr" sz="quarter" idx="3"/>
          </p:nvPr>
        </p:nvSpPr>
        <p:spPr bwMode="hidden">
          <a:xfrm>
            <a:off x="234950" y="8032785"/>
            <a:ext cx="5441950" cy="1384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algn="ctr" eaLnBrk="0" hangingPunct="0">
              <a:spcBef>
                <a:spcPct val="0"/>
              </a:spcBef>
              <a:defRPr sz="9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</a:lstStyle>
          <a:p>
            <a:pPr algn="l">
              <a:defRPr/>
            </a:pPr>
            <a:r>
              <a:rPr lang="en-US" dirty="0"/>
              <a:t>Copyright © 2017 Elephant Scale. All rights reserved.</a:t>
            </a:r>
          </a:p>
        </p:txBody>
      </p:sp>
      <p:pic>
        <p:nvPicPr>
          <p:cNvPr id="1030" name="Picture 6"/>
          <p:cNvPicPr preferRelativeResize="0">
            <a:picLocks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ltGray">
          <a:xfrm>
            <a:off x="0" y="1"/>
            <a:ext cx="704850" cy="83554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31" name="Rectangle 7"/>
          <p:cNvSpPr>
            <a:spLocks noGrp="1" noChangeArrowheads="1"/>
          </p:cNvSpPr>
          <p:nvPr>
            <p:ph type="title"/>
          </p:nvPr>
        </p:nvSpPr>
        <p:spPr bwMode="invGray">
          <a:xfrm>
            <a:off x="704850" y="1"/>
            <a:ext cx="8667750" cy="835549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vert="horz" wrap="square" lIns="92007" tIns="46005" rIns="92007" bIns="46005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title style</a:t>
            </a:r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56" r:id="rId1"/>
    <p:sldLayoutId id="2147483655" r:id="rId2"/>
    <p:sldLayoutId id="2147483654" r:id="rId3"/>
    <p:sldLayoutId id="2147483653" r:id="rId4"/>
  </p:sldLayoutIdLst>
  <p:hf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+mj-lt"/>
          <a:ea typeface="ＭＳ Ｐゴシック" pitchFamily="-110" charset="-128"/>
          <a:cs typeface="ＭＳ Ｐゴシック" pitchFamily="-110" charset="-128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  <a:ea typeface="ＭＳ Ｐゴシック" pitchFamily="-110" charset="-128"/>
          <a:cs typeface="ＭＳ Ｐゴシック" pitchFamily="-110" charset="-128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  <a:ea typeface="ＭＳ Ｐゴシック" pitchFamily="-110" charset="-128"/>
          <a:cs typeface="ＭＳ Ｐゴシック" pitchFamily="-110" charset="-128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  <a:ea typeface="ＭＳ Ｐゴシック" pitchFamily="-110" charset="-128"/>
          <a:cs typeface="ＭＳ Ｐゴシック" pitchFamily="-110" charset="-128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  <a:ea typeface="ＭＳ Ｐゴシック" pitchFamily="-110" charset="-128"/>
          <a:cs typeface="ＭＳ Ｐゴシック" pitchFamily="-110" charset="-128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</a:defRPr>
      </a:lvl9pPr>
    </p:titleStyle>
    <p:bodyStyle>
      <a:lvl1pPr marL="290513" indent="-290513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65000"/>
        <a:buFont typeface="Wingdings" pitchFamily="2" charset="2"/>
        <a:buChar char=""/>
        <a:defRPr sz="2400">
          <a:solidFill>
            <a:srgbClr val="000000"/>
          </a:solidFill>
          <a:latin typeface="+mn-lt"/>
          <a:ea typeface="ＭＳ Ｐゴシック" pitchFamily="-110" charset="-128"/>
          <a:cs typeface="ＭＳ Ｐゴシック" pitchFamily="-110" charset="-128"/>
        </a:defRPr>
      </a:lvl1pPr>
      <a:lvl2pPr marL="633413" indent="-228600" algn="l" rtl="0" eaLnBrk="0" fontAlgn="base" hangingPunct="0">
        <a:spcBef>
          <a:spcPct val="20000"/>
        </a:spcBef>
        <a:spcAft>
          <a:spcPct val="0"/>
        </a:spcAft>
        <a:buClr>
          <a:srgbClr val="000000"/>
        </a:buClr>
        <a:buChar char="–"/>
        <a:defRPr sz="2200">
          <a:solidFill>
            <a:srgbClr val="000000"/>
          </a:solidFill>
          <a:latin typeface="+mn-lt"/>
          <a:ea typeface="ＭＳ Ｐゴシック" pitchFamily="-110" charset="-128"/>
          <a:cs typeface="ＭＳ Ｐゴシック"/>
        </a:defRPr>
      </a:lvl2pPr>
      <a:lvl3pPr marL="969963" indent="-22225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rgbClr val="000000"/>
          </a:solidFill>
          <a:latin typeface="+mn-lt"/>
          <a:ea typeface="ＭＳ Ｐゴシック" pitchFamily="-110" charset="-128"/>
          <a:cs typeface="ＭＳ Ｐゴシック"/>
        </a:defRPr>
      </a:lvl3pPr>
      <a:lvl4pPr marL="1258888" indent="-228600" algn="l" rtl="0" eaLnBrk="0" fontAlgn="base" hangingPunct="0">
        <a:spcBef>
          <a:spcPct val="0"/>
        </a:spcBef>
        <a:spcAft>
          <a:spcPct val="0"/>
        </a:spcAft>
        <a:buClr>
          <a:srgbClr val="5F5F5F"/>
        </a:buClr>
        <a:buSzPct val="65000"/>
        <a:buFont typeface="Arial Bold" pitchFamily="34" charset="0"/>
        <a:buChar char="‒"/>
        <a:defRPr lang="en-US" dirty="0">
          <a:solidFill>
            <a:srgbClr val="000000"/>
          </a:solidFill>
          <a:latin typeface="+mn-lt"/>
          <a:ea typeface="ＭＳ Ｐゴシック" pitchFamily="-110" charset="-128"/>
          <a:cs typeface="ＭＳ Ｐゴシック"/>
        </a:defRPr>
      </a:lvl4pPr>
      <a:lvl5pPr marL="2055813" indent="-230188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defRPr sz="800">
          <a:solidFill>
            <a:schemeClr val="tx1"/>
          </a:solidFill>
          <a:latin typeface="Times New Roman" pitchFamily="-110" charset="0"/>
          <a:ea typeface="ＭＳ Ｐゴシック" pitchFamily="-110" charset="-128"/>
          <a:cs typeface="ＭＳ Ｐゴシック"/>
        </a:defRPr>
      </a:lvl5pPr>
      <a:lvl6pPr marL="2513013" indent="-230188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defRPr sz="800">
          <a:solidFill>
            <a:schemeClr val="tx1"/>
          </a:solidFill>
          <a:latin typeface="Times New Roman" pitchFamily="-110" charset="0"/>
          <a:ea typeface="ＭＳ Ｐゴシック" pitchFamily="-110" charset="-128"/>
        </a:defRPr>
      </a:lvl6pPr>
      <a:lvl7pPr marL="2970213" indent="-230188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defRPr sz="800">
          <a:solidFill>
            <a:schemeClr val="tx1"/>
          </a:solidFill>
          <a:latin typeface="Times New Roman" pitchFamily="-110" charset="0"/>
          <a:ea typeface="ＭＳ Ｐゴシック" pitchFamily="-110" charset="-128"/>
        </a:defRPr>
      </a:lvl7pPr>
      <a:lvl8pPr marL="3427413" indent="-230188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defRPr sz="800">
          <a:solidFill>
            <a:schemeClr val="tx1"/>
          </a:solidFill>
          <a:latin typeface="Times New Roman" pitchFamily="-110" charset="0"/>
          <a:ea typeface="ＭＳ Ｐゴシック" pitchFamily="-110" charset="-128"/>
        </a:defRPr>
      </a:lvl8pPr>
      <a:lvl9pPr marL="3884613" indent="-230188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defRPr sz="800">
          <a:solidFill>
            <a:schemeClr val="tx1"/>
          </a:solidFill>
          <a:latin typeface="Times New Roman" pitchFamily="-110" charset="0"/>
          <a:ea typeface="ＭＳ Ｐゴシック" pitchFamily="-110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/>
          <p:cNvSpPr>
            <a:spLocks noGrp="1"/>
          </p:cNvSpPr>
          <p:nvPr>
            <p:ph type="subTitle" sz="quarter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itle 2"/>
          <p:cNvSpPr>
            <a:spLocks noGrp="1"/>
          </p:cNvSpPr>
          <p:nvPr>
            <p:ph type="ctrTitle" sz="quarter"/>
          </p:nvPr>
        </p:nvSpPr>
        <p:spPr/>
        <p:txBody>
          <a:bodyPr wrap="square">
            <a:noAutofit/>
          </a:bodyPr>
          <a:lstStyle/>
          <a:p>
            <a:r>
              <a:rPr sz="4200" b="1" i="0">
                <a:latin typeface="Times New Roman"/>
              </a:rPr>
              <a:t>AI Automation Essentials for Business Professionals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Pre-requisites and Expectations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Comfort using a web browser and everyday office software</a:t>
            </a:r>
          </a:p>
          <a:p>
            <a:r>
              <a:rPr b="1"/>
              <a:t> No coding required</a:t>
            </a:r>
            <a:r>
              <a:t> — and none will sneak in</a:t>
            </a:r>
          </a:p>
          <a:p>
            <a:pPr lvl="1"/>
            <a:r>
              <a:t> Everything happens in the browser</a:t>
            </a:r>
          </a:p>
          <a:p>
            <a:pPr lvl="1"/>
            <a:r>
              <a:t> Bring your accounts, or use the ones we provide in class</a:t>
            </a:r>
          </a:p>
          <a:p>
            <a:r>
              <a:t> Curiosity!</a:t>
            </a:r>
          </a:p>
          <a:p>
            <a:pPr lvl="1"/>
            <a:r>
              <a:t> Ask a lot of questions</a:t>
            </a:r>
          </a:p>
          <a:p>
            <a:r>
              <a:t> This is an "AI Automation Essentials" class</a:t>
            </a:r>
          </a:p>
          <a:p>
            <a:pPr lvl="1"/>
            <a:r>
              <a:t> No previous AI experience is assumed (but may be helpful)</a:t>
            </a:r>
          </a:p>
          <a:p>
            <a:pPr lvl="1"/>
            <a:r>
              <a:t> Class will be based on the pace of the majority of the students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Our Teaching Philosophy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Emphasis on concepts &amp; fundamentals</a:t>
            </a:r>
          </a:p>
          <a:p>
            <a:r>
              <a:t> Browser tools - no need to learn anything by heart</a:t>
            </a:r>
          </a:p>
          <a:p>
            <a:r>
              <a:t> Highly interactive (questions and discussions are welcome)</a:t>
            </a:r>
          </a:p>
          <a:p>
            <a:r>
              <a:t> Hands-on (learn by doing)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Lots of Labs: Learn By Doing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Where is the ANY key?</a:t>
            </a:r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any-ke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850" y="1798199"/>
            <a:ext cx="7316684" cy="550468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Analogy: Learning To Fly...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learn-to-fl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8700" y="1634331"/>
            <a:ext cx="7507224" cy="411412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classroom-instru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688" y="1634331"/>
            <a:ext cx="7507224" cy="411412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+ Flight Time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cockp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088" y="2091867"/>
            <a:ext cx="7507224" cy="411412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This Will Take A Lot Of Practice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practi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956" y="1253331"/>
            <a:ext cx="8682688" cy="550654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About You And 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About Instructor</a:t>
            </a:r>
          </a:p>
          <a:p>
            <a:r>
              <a:t> About you</a:t>
            </a:r>
          </a:p>
          <a:p>
            <a:pPr lvl="1"/>
            <a:r>
              <a:t> Your Name</a:t>
            </a:r>
          </a:p>
          <a:p>
            <a:pPr lvl="1"/>
            <a:r>
              <a:t> Your role (sales, marketing, analyst, ops, manager, ...)</a:t>
            </a:r>
          </a:p>
          <a:p>
            <a:pPr lvl="1"/>
            <a:r>
              <a:t> Tools you use every day</a:t>
            </a:r>
          </a:p>
          <a:p>
            <a:pPr lvl="1"/>
            <a:r>
              <a:t> Familiarity with AI so far (scale of 1 - 4 ;  1 - new,   4 - I use it daily)</a:t>
            </a:r>
          </a:p>
          <a:p>
            <a:pPr lvl="1"/>
            <a:r>
              <a:t> Something non-technical about you! (favorite ice cream flavor / hobby...)</a:t>
            </a:r>
          </a:p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hiking-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8700" y="4857521"/>
            <a:ext cx="2888802" cy="2545378"/>
          </a:xfrm>
          <a:prstGeom prst="rect">
            <a:avLst/>
          </a:prstGeom>
        </p:spPr>
      </p:pic>
      <p:pic>
        <p:nvPicPr>
          <p:cNvPr id="6" name="Picture 5" descr="ice-cream-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05519" y="4987131"/>
            <a:ext cx="4442792" cy="2415768"/>
          </a:xfrm>
          <a:prstGeom prst="rect">
            <a:avLst/>
          </a:prstGeom>
        </p:spPr>
      </p:pic>
      <p:pic>
        <p:nvPicPr>
          <p:cNvPr id="7" name="Picture 6" descr="biking-1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31312" y="5303520"/>
            <a:ext cx="1709928" cy="155448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is this class different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Before</a:t>
            </a:r>
          </a:p>
          <a:p>
            <a:pPr lvl="1"/>
            <a:r>
              <a:t> We used to teach tools you had to code against</a:t>
            </a:r>
          </a:p>
          <a:p>
            <a:pPr lvl="1"/>
            <a:r>
              <a:t> Students enjoyed the show but did not become magicians</a:t>
            </a:r>
          </a:p>
          <a:p>
            <a:r>
              <a:t> Now</a:t>
            </a:r>
          </a:p>
          <a:p>
            <a:pPr lvl="1"/>
            <a:r>
              <a:t> We teach AI</a:t>
            </a:r>
            <a:r>
              <a:rPr b="1"/>
              <a:t> automation</a:t>
            </a:r>
            <a:r>
              <a:t> — wiring AI into real workflows</a:t>
            </a:r>
          </a:p>
          <a:p>
            <a:pPr lvl="1"/>
            <a:r>
              <a:t> You leave having</a:t>
            </a:r>
            <a:r>
              <a:rPr i="1"/>
              <a:t> built</a:t>
            </a:r>
            <a:r>
              <a:t> something, no code required</a:t>
            </a:r>
          </a:p>
          <a:p>
            <a:endParaRPr/>
          </a:p>
          <a:p>
            <a:endParaRPr/>
          </a:p>
          <a:p>
            <a:endParaRPr/>
          </a:p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pexels-amina-filkins-556004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8300" y="4337498"/>
            <a:ext cx="2302256" cy="3453384"/>
          </a:xfrm>
          <a:prstGeom prst="rect">
            <a:avLst/>
          </a:prstGeom>
        </p:spPr>
      </p:pic>
      <p:pic>
        <p:nvPicPr>
          <p:cNvPr id="6" name="Picture 5" descr="pexels-amina-filkins-5560048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05500" y="4409201"/>
            <a:ext cx="2302256" cy="345338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 will NOT take my job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human-vs-ai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8019" y="1321661"/>
            <a:ext cx="5201412" cy="650176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Two-Day 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r>
              <a:t> In every module you build a real artifact you can take back to work.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14743309"/>
              </p:ext>
            </p:extLst>
          </p:nvPr>
        </p:nvGraphicFramePr>
        <p:xfrm>
          <a:off x="237744" y="1253331"/>
          <a:ext cx="8915400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71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71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71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18269">
                <a:tc>
                  <a:txBody>
                    <a:bodyPr/>
                    <a:lstStyle/>
                    <a:p>
                      <a:r>
                        <a:t>Day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Module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You go from...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 — Foundations of Generative AI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mental model + AI vs. rules-based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 — Prompt Engineering for Automation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prompts that feed downstream tools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 — Evaluating &amp; Troubleshooting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judge and fix AI output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 — No-Code Automation &amp; AI Agents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wire AI into a real workflow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 — AI for Decisions &amp; Insights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summarize, analyze, decide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 — Responsible AI &amp; Governance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ethics, privacy, EU AI Act / NIST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 — ROI, Adoption &amp; Capstone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/>
                        <a:t>build it, prove the ROI, present it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Ground Rules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Use</a:t>
            </a:r>
            <a:r>
              <a:rPr b="1"/>
              <a:t> classroom-approved accounts and data</a:t>
            </a:r>
            <a:r>
              <a:t> only.</a:t>
            </a:r>
          </a:p>
          <a:p>
            <a:r>
              <a:rPr b="1"/>
              <a:t> Do not upload confidential information</a:t>
            </a:r>
            <a:r>
              <a:t> unless the environment is explicitly approved for it.</a:t>
            </a:r>
          </a:p>
          <a:p>
            <a:r>
              <a:rPr b="1"/>
              <a:t> Verify important facts</a:t>
            </a:r>
            <a:r>
              <a:t> before you act on them — the model can be confidently wrong.</a:t>
            </a:r>
          </a:p>
          <a:p>
            <a:r>
              <a:t> Keep a</a:t>
            </a:r>
            <a:r>
              <a:rPr b="1"/>
              <a:t> human approval step</a:t>
            </a:r>
            <a:r>
              <a:t> in any workflow that sends, publishes, deletes, or buys.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LPc_New">
  <a:themeElements>
    <a:clrScheme name="LPc_New 7">
      <a:dk1>
        <a:srgbClr val="000000"/>
      </a:dk1>
      <a:lt1>
        <a:srgbClr val="FFFFFF"/>
      </a:lt1>
      <a:dk2>
        <a:srgbClr val="CCECFF"/>
      </a:dk2>
      <a:lt2>
        <a:srgbClr val="003399"/>
      </a:lt2>
      <a:accent1>
        <a:srgbClr val="0794FF"/>
      </a:accent1>
      <a:accent2>
        <a:srgbClr val="800080"/>
      </a:accent2>
      <a:accent3>
        <a:srgbClr val="E2F4FF"/>
      </a:accent3>
      <a:accent4>
        <a:srgbClr val="DADADA"/>
      </a:accent4>
      <a:accent5>
        <a:srgbClr val="AAC8FF"/>
      </a:accent5>
      <a:accent6>
        <a:srgbClr val="730073"/>
      </a:accent6>
      <a:hlink>
        <a:srgbClr val="FF0000"/>
      </a:hlink>
      <a:folHlink>
        <a:srgbClr val="FFFFD2"/>
      </a:folHlink>
    </a:clrScheme>
    <a:fontScheme name="LPc_New">
      <a:majorFont>
        <a:latin typeface="Verdana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30000"/>
          </a:spcBef>
          <a:spcAft>
            <a:spcPct val="0"/>
          </a:spcAft>
          <a:buClrTx/>
          <a:buSzTx/>
          <a:buFontTx/>
          <a:buNone/>
          <a:tabLst/>
          <a:defRPr kumimoji="0" lang="en-US" sz="10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Garamond" pitchFamily="-110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30000"/>
          </a:spcBef>
          <a:spcAft>
            <a:spcPct val="0"/>
          </a:spcAft>
          <a:buClrTx/>
          <a:buSzTx/>
          <a:buFontTx/>
          <a:buNone/>
          <a:tabLst/>
          <a:defRPr kumimoji="0" lang="en-US" sz="10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Garamond" pitchFamily="-110" charset="0"/>
          </a:defRPr>
        </a:defPPr>
      </a:lstStyle>
    </a:lnDef>
  </a:objectDefaults>
  <a:extraClrSchemeLst>
    <a:extraClrScheme>
      <a:clrScheme name="LPc_New 1">
        <a:dk1>
          <a:srgbClr val="000099"/>
        </a:dk1>
        <a:lt1>
          <a:srgbClr val="FFFFFF"/>
        </a:lt1>
        <a:dk2>
          <a:srgbClr val="0000FF"/>
        </a:dk2>
        <a:lt2>
          <a:srgbClr val="FFFF00"/>
        </a:lt2>
        <a:accent1>
          <a:srgbClr val="FF6633"/>
        </a:accent1>
        <a:accent2>
          <a:srgbClr val="FF00FF"/>
        </a:accent2>
        <a:accent3>
          <a:srgbClr val="AAAAFF"/>
        </a:accent3>
        <a:accent4>
          <a:srgbClr val="DADADA"/>
        </a:accent4>
        <a:accent5>
          <a:srgbClr val="FFB8AD"/>
        </a:accent5>
        <a:accent6>
          <a:srgbClr val="E700E7"/>
        </a:accent6>
        <a:hlink>
          <a:srgbClr val="FF0000"/>
        </a:hlink>
        <a:folHlink>
          <a:srgbClr val="80808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Pc_New 2">
        <a:dk1>
          <a:srgbClr val="000066"/>
        </a:dk1>
        <a:lt1>
          <a:srgbClr val="CCECFF"/>
        </a:lt1>
        <a:dk2>
          <a:srgbClr val="000080"/>
        </a:dk2>
        <a:lt2>
          <a:srgbClr val="000000"/>
        </a:lt2>
        <a:accent1>
          <a:srgbClr val="9999FF"/>
        </a:accent1>
        <a:accent2>
          <a:srgbClr val="CC00FF"/>
        </a:accent2>
        <a:accent3>
          <a:srgbClr val="E2F4FF"/>
        </a:accent3>
        <a:accent4>
          <a:srgbClr val="000056"/>
        </a:accent4>
        <a:accent5>
          <a:srgbClr val="CACAFF"/>
        </a:accent5>
        <a:accent6>
          <a:srgbClr val="B900E7"/>
        </a:accent6>
        <a:hlink>
          <a:srgbClr val="00CC99"/>
        </a:hlink>
        <a:folHlink>
          <a:srgbClr val="0099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Pc_New 3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B2B2B2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D5D5D5"/>
        </a:accent5>
        <a:accent6>
          <a:srgbClr val="797979"/>
        </a:accent6>
        <a:hlink>
          <a:srgbClr val="5F5F5F"/>
        </a:hlink>
        <a:folHlink>
          <a:srgbClr val="DDDDD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Pc_New 4">
        <a:dk1>
          <a:srgbClr val="000000"/>
        </a:dk1>
        <a:lt1>
          <a:srgbClr val="FFFFFF"/>
        </a:lt1>
        <a:dk2>
          <a:srgbClr val="660033"/>
        </a:dk2>
        <a:lt2>
          <a:srgbClr val="FFFF66"/>
        </a:lt2>
        <a:accent1>
          <a:srgbClr val="FF0033"/>
        </a:accent1>
        <a:accent2>
          <a:srgbClr val="CC6600"/>
        </a:accent2>
        <a:accent3>
          <a:srgbClr val="B8AAAD"/>
        </a:accent3>
        <a:accent4>
          <a:srgbClr val="DADADA"/>
        </a:accent4>
        <a:accent5>
          <a:srgbClr val="FFAAAD"/>
        </a:accent5>
        <a:accent6>
          <a:srgbClr val="B95C00"/>
        </a:accent6>
        <a:hlink>
          <a:srgbClr val="999933"/>
        </a:hlink>
        <a:folHlink>
          <a:srgbClr val="A5002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Pc_New 5">
        <a:dk1>
          <a:srgbClr val="000000"/>
        </a:dk1>
        <a:lt1>
          <a:srgbClr val="FFFFFF"/>
        </a:lt1>
        <a:dk2>
          <a:srgbClr val="CCECFF"/>
        </a:dk2>
        <a:lt2>
          <a:srgbClr val="000080"/>
        </a:lt2>
        <a:accent1>
          <a:srgbClr val="9999FF"/>
        </a:accent1>
        <a:accent2>
          <a:srgbClr val="CC00FF"/>
        </a:accent2>
        <a:accent3>
          <a:srgbClr val="E2F4FF"/>
        </a:accent3>
        <a:accent4>
          <a:srgbClr val="DADADA"/>
        </a:accent4>
        <a:accent5>
          <a:srgbClr val="CACAFF"/>
        </a:accent5>
        <a:accent6>
          <a:srgbClr val="B900E7"/>
        </a:accent6>
        <a:hlink>
          <a:srgbClr val="00CC99"/>
        </a:hlink>
        <a:folHlink>
          <a:srgbClr val="0099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Pc_New 6">
        <a:dk1>
          <a:srgbClr val="000000"/>
        </a:dk1>
        <a:lt1>
          <a:srgbClr val="FFFFFF"/>
        </a:lt1>
        <a:dk2>
          <a:srgbClr val="CCECFF"/>
        </a:dk2>
        <a:lt2>
          <a:srgbClr val="003399"/>
        </a:lt2>
        <a:accent1>
          <a:srgbClr val="9999FF"/>
        </a:accent1>
        <a:accent2>
          <a:srgbClr val="800080"/>
        </a:accent2>
        <a:accent3>
          <a:srgbClr val="E2F4FF"/>
        </a:accent3>
        <a:accent4>
          <a:srgbClr val="DADADA"/>
        </a:accent4>
        <a:accent5>
          <a:srgbClr val="CACAFF"/>
        </a:accent5>
        <a:accent6>
          <a:srgbClr val="730073"/>
        </a:accent6>
        <a:hlink>
          <a:srgbClr val="FF0000"/>
        </a:hlink>
        <a:folHlink>
          <a:srgbClr val="FFFFD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Pc_New 7">
        <a:dk1>
          <a:srgbClr val="000000"/>
        </a:dk1>
        <a:lt1>
          <a:srgbClr val="FFFFFF"/>
        </a:lt1>
        <a:dk2>
          <a:srgbClr val="CCECFF"/>
        </a:dk2>
        <a:lt2>
          <a:srgbClr val="003399"/>
        </a:lt2>
        <a:accent1>
          <a:srgbClr val="0794FF"/>
        </a:accent1>
        <a:accent2>
          <a:srgbClr val="800080"/>
        </a:accent2>
        <a:accent3>
          <a:srgbClr val="E2F4FF"/>
        </a:accent3>
        <a:accent4>
          <a:srgbClr val="DADADA"/>
        </a:accent4>
        <a:accent5>
          <a:srgbClr val="AAC8FF"/>
        </a:accent5>
        <a:accent6>
          <a:srgbClr val="730073"/>
        </a:accent6>
        <a:hlink>
          <a:srgbClr val="FF0000"/>
        </a:hlink>
        <a:folHlink>
          <a:srgbClr val="FFFFD2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378296</TotalTime>
  <Words>628</Words>
  <Application>Microsoft Macintosh PowerPoint</Application>
  <PresentationFormat>Custom</PresentationFormat>
  <Paragraphs>159</Paragraphs>
  <Slides>13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1" baseType="lpstr">
      <vt:lpstr>Arial</vt:lpstr>
      <vt:lpstr>Arial Bold</vt:lpstr>
      <vt:lpstr>Garamond</vt:lpstr>
      <vt:lpstr>Monotype Sorts</vt:lpstr>
      <vt:lpstr>Times New Roman</vt:lpstr>
      <vt:lpstr>Verdana</vt:lpstr>
      <vt:lpstr>Wingdings</vt:lpstr>
      <vt:lpstr>LPc_New</vt:lpstr>
      <vt:lpstr>AI Automation Essentials for Business Professionals</vt:lpstr>
      <vt:lpstr>Pre-requisites and Expectations</vt:lpstr>
      <vt:lpstr>Our Teaching Philosophy</vt:lpstr>
      <vt:lpstr>Lots of Labs: Learn By Doing</vt:lpstr>
      <vt:lpstr>Analogy: Learning To Fly...</vt:lpstr>
      <vt:lpstr>Introductions</vt:lpstr>
      <vt:lpstr>+ Flight Time</vt:lpstr>
      <vt:lpstr>This Will Take A Lot Of Practice</vt:lpstr>
      <vt:lpstr>About You And Me</vt:lpstr>
      <vt:lpstr>Why is this class different</vt:lpstr>
      <vt:lpstr>AI will NOT take my job</vt:lpstr>
      <vt:lpstr>The Two-Day Map</vt:lpstr>
      <vt:lpstr>Ground Rules</vt:lpstr>
    </vt:vector>
  </TitlesOfParts>
  <Company>Elephant Scale LLC &amp; LearningPatterns Inc.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Spark</dc:title>
  <dc:subject>Spark</dc:subject>
  <dc:creator>Elephant Scale</dc:creator>
  <cp:lastModifiedBy>Brent Borgundvaag</cp:lastModifiedBy>
  <cp:revision>4136</cp:revision>
  <cp:lastPrinted>2010-01-03T02:41:41Z</cp:lastPrinted>
  <dcterms:created xsi:type="dcterms:W3CDTF">2010-07-13T15:22:01Z</dcterms:created>
  <dcterms:modified xsi:type="dcterms:W3CDTF">2026-08-28T21:53:27Z</dcterms:modified>
</cp:coreProperties>
</file>