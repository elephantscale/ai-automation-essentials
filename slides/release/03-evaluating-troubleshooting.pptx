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Evaluating &amp; Troubleshooting AI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Fluency is not accuracy</a:t>
            </a:r>
          </a:p>
          <a:p>
            <a:r>
              <a:t> Automation needs a quality bar</a:t>
            </a:r>
          </a:p>
          <a:p>
            <a:r>
              <a:t> Bad output has patterns</a:t>
            </a:r>
          </a:p>
          <a:p>
            <a:r>
              <a:t> Good prompts can be repaired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3681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"It sounded right" is not a review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Problem — Fluent ≠ Correct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Pattern completion</a:t>
            </a:r>
          </a:p>
          <a:p>
            <a:r>
              <a:t> Plausible text</a:t>
            </a:r>
          </a:p>
          <a:p>
            <a:r>
              <a:t> Confident errors</a:t>
            </a:r>
          </a:p>
          <a:p>
            <a:r>
              <a:t> Missing private facts</a:t>
            </a:r>
          </a:p>
          <a:p>
            <a:r>
              <a:t> Vague instructions become guesses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513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Treat AI output as a fast draft, not a finished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"Good" Means — Five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Accuracy</a:t>
            </a:r>
          </a:p>
          <a:p>
            <a:r>
              <a:t> Completeness</a:t>
            </a:r>
          </a:p>
          <a:p>
            <a:r>
              <a:t> Tone / fit</a:t>
            </a:r>
          </a:p>
          <a:p>
            <a:r>
              <a:t> Structure</a:t>
            </a:r>
          </a:p>
          <a:p>
            <a:r>
              <a:t> Trustworthiness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816216"/>
            <a:ext cx="9137650" cy="14066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74461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cannot troubleshoot what you have not defined.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Evaluation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Score each dimension 1-5</a:t>
            </a:r>
          </a:p>
          <a:p>
            <a:r>
              <a:rPr dirty="0"/>
              <a:t> Total score out of 25</a:t>
            </a:r>
          </a:p>
          <a:p>
            <a:r>
              <a:rPr dirty="0"/>
              <a:t> Decide the target before reviewing</a:t>
            </a:r>
          </a:p>
          <a:p>
            <a:r>
              <a:rPr dirty="0"/>
              <a:t> Use the same bar as a team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Rubric:</a:t>
            </a:r>
            <a:r>
              <a:rPr dirty="0">
                <a:latin typeface="Courier New"/>
              </a:rPr>
              <a:t> course-materials/output-evaluation-</a:t>
            </a:r>
            <a:r>
              <a:rPr dirty="0" err="1">
                <a:latin typeface="Courier New"/>
              </a:rPr>
              <a:t>rubric.md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" y="3364830"/>
            <a:ext cx="22352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661874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rubric turns "is this good?" into a repeatable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1 —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Names</a:t>
            </a:r>
          </a:p>
          <a:p>
            <a:r>
              <a:t> Numbers</a:t>
            </a:r>
          </a:p>
          <a:p>
            <a:r>
              <a:t> Dates</a:t>
            </a:r>
          </a:p>
          <a:p>
            <a:r>
              <a:t> Quotes</a:t>
            </a:r>
          </a:p>
          <a:p>
            <a:r>
              <a:t> Citations</a:t>
            </a:r>
          </a:p>
          <a:p>
            <a:r>
              <a:t> Private facts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Check specifics against the source. Specific errors are the dangerous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2 —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ask answered</a:t>
            </a:r>
          </a:p>
          <a:p>
            <a:r>
              <a:t> Edge cases covered</a:t>
            </a:r>
          </a:p>
          <a:p>
            <a:r>
              <a:t> Missing data handled</a:t>
            </a:r>
          </a:p>
          <a:p>
            <a:r>
              <a:t> No quiet omissions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8454"/>
            <a:ext cx="9372600" cy="6852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09382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Multi-part requests need multi-part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3 — Tone &amp; Audience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Reader</a:t>
            </a:r>
          </a:p>
          <a:p>
            <a:r>
              <a:t> Register</a:t>
            </a:r>
          </a:p>
          <a:p>
            <a:r>
              <a:t> Vocabulary</a:t>
            </a:r>
          </a:p>
          <a:p>
            <a:r>
              <a:t> Confidence level</a:t>
            </a:r>
          </a:p>
          <a:p>
            <a:r>
              <a:t> Business context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947835"/>
            <a:ext cx="80264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Tone is not decoration. It decides whether the output can be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4 — Structure &amp;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Table</a:t>
            </a:r>
          </a:p>
          <a:p>
            <a:r>
              <a:t> Bullets</a:t>
            </a:r>
          </a:p>
          <a:p>
            <a:r>
              <a:t> JSON fields</a:t>
            </a:r>
          </a:p>
          <a:p>
            <a:r>
              <a:t> Labeled sections</a:t>
            </a:r>
          </a:p>
          <a:p>
            <a:r>
              <a:t> Exact keys</a:t>
            </a:r>
          </a:p>
          <a:p>
            <a:r>
              <a:t> Closed lists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4657704"/>
            <a:ext cx="9220200" cy="158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30288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In automation, format is behavior.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 5 — Trustworthiness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Shows evidence</a:t>
            </a:r>
          </a:p>
          <a:p>
            <a:r>
              <a:t> Flags uncertainty</a:t>
            </a:r>
          </a:p>
          <a:p>
            <a:r>
              <a:t> Says when data is missing</a:t>
            </a:r>
          </a:p>
          <a:p>
            <a:r>
              <a:t> Refuses out-of-bounds work</a:t>
            </a:r>
          </a:p>
          <a:p>
            <a:r>
              <a:t> Routes risky cases to a person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4330461"/>
            <a:ext cx="75692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525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trustworthy answer may sound less impressive because it does not bluff.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vs. Strong — Same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Task: summarize five support requests for an operations manager</a:t>
            </a:r>
          </a:p>
          <a:p>
            <a:r>
              <a:rPr b="1" dirty="0"/>
              <a:t> Weaker</a:t>
            </a:r>
            <a:r>
              <a:rPr dirty="0"/>
              <a:t> — fluent, but risky:</a:t>
            </a:r>
          </a:p>
          <a:p>
            <a:endParaRPr dirty="0"/>
          </a:p>
          <a:p>
            <a:r>
              <a:rPr b="1" dirty="0"/>
              <a:t> 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b="1" dirty="0"/>
              <a:t>Stronger</a:t>
            </a:r>
            <a:r>
              <a:rPr dirty="0"/>
              <a:t> — grounded and reviewable: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62" y="2629676"/>
            <a:ext cx="8915400" cy="550553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4814928"/>
            <a:ext cx="8915400" cy="9019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" y="716513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Score the answer, not the confidence.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Checks Before You Use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Trace every number</a:t>
            </a:r>
          </a:p>
          <a:p>
            <a:r>
              <a:t> Verify every citation</a:t>
            </a:r>
          </a:p>
          <a:p>
            <a:r>
              <a:t> Look for facts you did not provide</a:t>
            </a:r>
          </a:p>
          <a:p>
            <a:r>
              <a:t> Re-read sensitive claims</a:t>
            </a:r>
          </a:p>
          <a:p>
            <a:r>
              <a:t> Match the review to the stakes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3923229"/>
            <a:ext cx="81788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5788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Higher consequence = stronger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 — The Confident Invention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Plausible</a:t>
            </a:r>
          </a:p>
          <a:p>
            <a:r>
              <a:t> Specific</a:t>
            </a:r>
          </a:p>
          <a:p>
            <a:r>
              <a:t> Unsupported</a:t>
            </a:r>
          </a:p>
          <a:p>
            <a:r>
              <a:t> Confident</a:t>
            </a:r>
          </a:p>
          <a:p>
            <a:r>
              <a:t> Often hard to spot by tone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4026036"/>
            <a:ext cx="9334500" cy="734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the source does not contain it, the model should not claim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Defenses Against Hallucination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Ground it</a:t>
            </a:r>
          </a:p>
          <a:p>
            <a:r>
              <a:t> Ask for evidence</a:t>
            </a:r>
          </a:p>
          <a:p>
            <a:r>
              <a:t> Give it an out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9834"/>
            <a:ext cx="9372600" cy="9173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Grounding plus a fallback beats a confident guess.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Failure Modes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Ambiguity</a:t>
            </a:r>
          </a:p>
          <a:p>
            <a:r>
              <a:t> Hallucination</a:t>
            </a:r>
          </a:p>
          <a:p>
            <a:r>
              <a:t> Prompt injection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" y="3148013"/>
            <a:ext cx="9068562" cy="1000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8921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Name the failure mode before you fix the prompt.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 1 —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Undefined audience</a:t>
            </a:r>
          </a:p>
          <a:p>
            <a:r>
              <a:t> Undefined length</a:t>
            </a:r>
          </a:p>
          <a:p>
            <a:r>
              <a:t> Undefined format</a:t>
            </a:r>
          </a:p>
          <a:p>
            <a:r>
              <a:t> Undefined fallback</a:t>
            </a:r>
          </a:p>
          <a:p>
            <a:r>
              <a:t> Undefined success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4148931"/>
            <a:ext cx="8915400" cy="11805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Ambiguity is the cheapest failure to 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 2 — Hallucination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Accuracy failure</a:t>
            </a:r>
          </a:p>
          <a:p>
            <a:r>
              <a:t> Trustworthiness failure</a:t>
            </a:r>
          </a:p>
          <a:p>
            <a:r>
              <a:t> Unsupported specificity</a:t>
            </a:r>
          </a:p>
          <a:p>
            <a:r>
              <a:t> Missing source boundary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89879"/>
            <a:ext cx="7264400" cy="132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15561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Treat unsupported facts as invented until proven.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Mode 3 — 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Untrusted content</a:t>
            </a:r>
          </a:p>
          <a:p>
            <a:r>
              <a:t> Hidden instructions</a:t>
            </a:r>
          </a:p>
          <a:p>
            <a:r>
              <a:t> Role changes</a:t>
            </a:r>
          </a:p>
          <a:p>
            <a:r>
              <a:t> Rule overrides</a:t>
            </a:r>
          </a:p>
          <a:p>
            <a:r>
              <a:t> Dangerous in automation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4148931"/>
            <a:ext cx="57404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Anything a stranger can write into your input is data, not a command.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Injection — Safer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Label the data</a:t>
            </a:r>
          </a:p>
          <a:p>
            <a:r>
              <a:t> Fence the data</a:t>
            </a:r>
          </a:p>
          <a:p>
            <a:r>
              <a:t> Say it is untrusted</a:t>
            </a:r>
          </a:p>
          <a:p>
            <a:r>
              <a:t> Re-state the real rules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44131"/>
            <a:ext cx="8915400" cy="2283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Fence it, label it, repeat the rule.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— The Box Around the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Scope</a:t>
            </a:r>
          </a:p>
          <a:p>
            <a:r>
              <a:t> Output</a:t>
            </a:r>
          </a:p>
          <a:p>
            <a:r>
              <a:t> Behavior</a:t>
            </a:r>
          </a:p>
          <a:p>
            <a:r>
              <a:t> Action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7493"/>
            <a:ext cx="9372600" cy="12184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Guardrails define what the AI is allowed to do before it runs.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Guardrails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Help-desk assistant</a:t>
            </a:r>
          </a:p>
          <a:p>
            <a:r>
              <a:t> Source-bound</a:t>
            </a:r>
          </a:p>
          <a:p>
            <a:r>
              <a:t> Injection-aware</a:t>
            </a:r>
          </a:p>
          <a:p>
            <a:r>
              <a:t> Draft-only</a:t>
            </a:r>
          </a:p>
          <a:p>
            <a:r>
              <a:t> Human route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3807603"/>
            <a:ext cx="8915400" cy="12964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good assistant is judged by what it refuses as well as what it answers.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Troubleshooting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Diagnose</a:t>
            </a:r>
          </a:p>
          <a:p>
            <a:r>
              <a:t> Fix one thing</a:t>
            </a:r>
          </a:p>
          <a:p>
            <a:r>
              <a:t> Re-run</a:t>
            </a:r>
          </a:p>
          <a:p>
            <a:r>
              <a:t> Compare</a:t>
            </a:r>
          </a:p>
          <a:p>
            <a:r>
              <a:t> Stop when it meets the bar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37" y="4682331"/>
            <a:ext cx="81788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9237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Change one thing at a time or you will not know what worked.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888831"/>
            <a:ext cx="9358313" cy="16343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9712" y="701942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rubric is also the repair manual.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a Broken Prompt —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Broken prompt</a:t>
            </a:r>
          </a:p>
          <a:p>
            <a:endParaRPr lang="en-US" b="1" dirty="0"/>
          </a:p>
          <a:p>
            <a:endParaRPr b="1" dirty="0"/>
          </a:p>
          <a:p>
            <a:r>
              <a:rPr dirty="0"/>
              <a:t> Diagnosis</a:t>
            </a:r>
          </a:p>
          <a:p>
            <a:r>
              <a:rPr dirty="0"/>
              <a:t> Too broad</a:t>
            </a:r>
          </a:p>
          <a:p>
            <a:r>
              <a:rPr dirty="0"/>
              <a:t> No format</a:t>
            </a:r>
          </a:p>
          <a:p>
            <a:r>
              <a:rPr dirty="0"/>
              <a:t> No source boundary</a:t>
            </a:r>
          </a:p>
          <a:p>
            <a:r>
              <a:rPr dirty="0"/>
              <a:t> No sensitive-data rule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724772"/>
            <a:ext cx="8915400" cy="359775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" y="4750086"/>
            <a:ext cx="9258300" cy="2120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675" y="7303680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First fix the ambiguity. Then re-run.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the Next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Same prompt</a:t>
            </a:r>
          </a:p>
          <a:p>
            <a:r>
              <a:t> One added guardrail</a:t>
            </a:r>
          </a:p>
          <a:p>
            <a:r>
              <a:t> Re-run again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998459"/>
            <a:ext cx="8915400" cy="11512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05651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troubleshot prompt becomes a reusable asset.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Quality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Minimum score</a:t>
            </a:r>
          </a:p>
          <a:p>
            <a:r>
              <a:t> Required guardrails</a:t>
            </a:r>
          </a:p>
          <a:p>
            <a:r>
              <a:t> Verification path</a:t>
            </a:r>
          </a:p>
          <a:p>
            <a:r>
              <a:t> Always-escalate categories</a:t>
            </a:r>
          </a:p>
          <a:p>
            <a:r>
              <a:t> Owner for updates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7" y="4121149"/>
            <a:ext cx="8915400" cy="10840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five-line standard beats a hallway understanding.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&amp; Troubleshooting —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Fluency is not accuracy</a:t>
            </a:r>
          </a:p>
          <a:p>
            <a:r>
              <a:t> Score five dimensions</a:t>
            </a:r>
          </a:p>
          <a:p>
            <a:r>
              <a:t> Ground answers in sources</a:t>
            </a:r>
          </a:p>
          <a:p>
            <a:r>
              <a:t> Fence untrusted input</a:t>
            </a:r>
          </a:p>
          <a:p>
            <a:r>
              <a:t> Add guardrails</a:t>
            </a:r>
          </a:p>
          <a:p>
            <a:r>
              <a:t> Diagnose one failure</a:t>
            </a:r>
          </a:p>
          <a:p>
            <a:r>
              <a:t> Fix one thing</a:t>
            </a:r>
          </a:p>
          <a:p>
            <a:r>
              <a:t> Re-run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4443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quality bar here makes Module 4 safe to automate.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03 - Evaluate &amp; Troubleshoot AI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03.</a:t>
            </a:r>
          </a:p>
          <a:p>
            <a:r>
              <a:t> You will:</a:t>
            </a:r>
          </a:p>
          <a:p>
            <a:r>
              <a:t> Score weak and strong outputs with the rubric.</a:t>
            </a:r>
          </a:p>
          <a:p>
            <a:r>
              <a:t> Run a deliberately broken prompt.</a:t>
            </a:r>
          </a:p>
          <a:p>
            <a:r>
              <a:t> Diagnose the weakest dimension.</a:t>
            </a:r>
          </a:p>
          <a:p>
            <a:r>
              <a:t> Apply one targeted fix and re-run.</a:t>
            </a:r>
          </a:p>
          <a:p>
            <a:r>
              <a:t> Add guardrails and test prompt injection.</a:t>
            </a:r>
          </a:p>
          <a:p>
            <a:r>
              <a:t> Write a five-line team quality bar.</a:t>
            </a:r>
          </a:p>
          <a:p>
            <a:r>
              <a:rPr b="1"/>
              <a:t> Deliverable:</a:t>
            </a:r>
            <a:r>
              <a:t> scored rubric cards, fixed prompt, injection-safe prompt, and team quality bar.</a:t>
            </a:r>
          </a:p>
          <a:p>
            <a:r>
              <a:rPr b="1"/>
              <a:t> Time:</a:t>
            </a:r>
            <a:r>
              <a:t> ~35-45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1207</Words>
  <Application>Microsoft Macintosh PowerPoint</Application>
  <PresentationFormat>Custom</PresentationFormat>
  <Paragraphs>246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Evaluating &amp; Troubleshooting AI Output</vt:lpstr>
      <vt:lpstr>Why This Module</vt:lpstr>
      <vt:lpstr>The Core Problem — Fluent ≠ Correct</vt:lpstr>
      <vt:lpstr>What "Good" Means — Five Dimensions</vt:lpstr>
      <vt:lpstr>The Evaluation Rubric</vt:lpstr>
      <vt:lpstr>Dimension 1 — Accuracy</vt:lpstr>
      <vt:lpstr>Dimension 2 — Completeness</vt:lpstr>
      <vt:lpstr>Dimension 3 — Tone &amp; Audience Fit</vt:lpstr>
      <vt:lpstr>Dimension 4 — Structure &amp; Format</vt:lpstr>
      <vt:lpstr>Dimension 5 — Trustworthiness</vt:lpstr>
      <vt:lpstr>Weak vs. Strong — Same Task</vt:lpstr>
      <vt:lpstr>Fast Checks Before You Use the Output</vt:lpstr>
      <vt:lpstr>Hallucination — The Confident Invention</vt:lpstr>
      <vt:lpstr>Three Defenses Against Hallucination</vt:lpstr>
      <vt:lpstr>Three Failure Modes in Production</vt:lpstr>
      <vt:lpstr>Failure Mode 1 — Ambiguity</vt:lpstr>
      <vt:lpstr>Failure Mode 2 — Hallucination</vt:lpstr>
      <vt:lpstr>Failure Mode 3 — Prompt Injection</vt:lpstr>
      <vt:lpstr>Prompt Injection — Safer Pattern</vt:lpstr>
      <vt:lpstr>Guardrails — The Box Around the AI</vt:lpstr>
      <vt:lpstr>Guardrails in Practice</vt:lpstr>
      <vt:lpstr>The Troubleshooting Loop</vt:lpstr>
      <vt:lpstr>Fix Table</vt:lpstr>
      <vt:lpstr>Troubleshooting a Broken Prompt — Worked</vt:lpstr>
      <vt:lpstr>Add the Next Fix</vt:lpstr>
      <vt:lpstr>Team Quality Bar</vt:lpstr>
      <vt:lpstr>Evaluating &amp; Troubleshooting — Cheat Sheet</vt:lpstr>
      <vt:lpstr>Lab 03 - Evaluate &amp; Troubleshoot AI Output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2026-09-01T02:31:25Z</dcterms:modified>
</cp:coreProperties>
</file>