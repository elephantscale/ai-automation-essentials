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2017 Elephant Scale.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ADD5D-AF76-45EE-AA5F-6DAC73BF167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9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Foundations of Generative AI in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Grounded opinion</a:t>
            </a:r>
          </a:p>
          <a:p>
            <a:r>
              <a:t> From chat to workflows</a:t>
            </a:r>
          </a:p>
          <a:p>
            <a:r>
              <a:t> Mental model for the rest of the course</a:t>
            </a:r>
          </a:p>
          <a:p>
            <a:r>
              <a:t> Where AI fits in automation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5977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Product names change. The mental model is the durable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Generative AI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Creates new content from instructions</a:t>
            </a:r>
          </a:p>
          <a:p>
            <a:r>
              <a:t> Works in plain language</a:t>
            </a:r>
          </a:p>
          <a:p>
            <a:r>
              <a:t> Drafts, summarizes, extracts, classifies</a:t>
            </a:r>
          </a:p>
          <a:p>
            <a:r>
              <a:t> One tool, many roles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349407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flexible drafting and analysis assistant - powerful, but not automatically correct.</a:t>
            </a:r>
          </a:p>
        </p:txBody>
      </p:sp>
      <p:pic>
        <p:nvPicPr>
          <p:cNvPr id="6" name="Picture 5" descr="pexels-mikebird-1917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5558700"/>
            <a:ext cx="4239663" cy="23855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Generative AI 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Not a fact database</a:t>
            </a:r>
          </a:p>
          <a:p>
            <a:r>
              <a:t> Not a calculator</a:t>
            </a:r>
          </a:p>
          <a:p>
            <a:r>
              <a:t> Not company-aware by default</a:t>
            </a:r>
          </a:p>
          <a:p>
            <a:r>
              <a:t> Not automatically current</a:t>
            </a:r>
          </a:p>
          <a:p>
            <a:r>
              <a:t> Not the decision-maker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977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AI disappointments come from expecting one of these.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Language Model Works, in Plain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Predicts the next piece of text</a:t>
            </a:r>
          </a:p>
          <a:p>
            <a:r>
              <a:t> Pattern completion, not lookup</a:t>
            </a:r>
          </a:p>
          <a:p>
            <a:r>
              <a:t> Fluent output</a:t>
            </a:r>
          </a:p>
          <a:p>
            <a:r>
              <a:t> Confident errors</a:t>
            </a:r>
          </a:p>
          <a:p>
            <a:r>
              <a:t> Context matters</a:t>
            </a:r>
          </a:p>
          <a:p>
            <a:r>
              <a:t> Specific instructions matter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58253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It sounds informed before it is grounded.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 — Without the Jargon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Model</a:t>
            </a:r>
          </a:p>
          <a:p>
            <a:r>
              <a:rPr dirty="0"/>
              <a:t> Prompt</a:t>
            </a:r>
          </a:p>
          <a:p>
            <a:r>
              <a:rPr dirty="0"/>
              <a:t> Context</a:t>
            </a:r>
          </a:p>
          <a:p>
            <a:r>
              <a:rPr dirty="0"/>
              <a:t> Tokens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382842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Context is what the model can see.</a:t>
            </a:r>
          </a:p>
        </p:txBody>
      </p:sp>
      <p:pic>
        <p:nvPicPr>
          <p:cNvPr id="6" name="Picture 5" descr="pexels-markus-winkler-1430818-40654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4758531"/>
            <a:ext cx="4363212" cy="2908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 — Without the Jargon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Hallucination</a:t>
            </a:r>
          </a:p>
          <a:p>
            <a:r>
              <a:t> Bias</a:t>
            </a:r>
          </a:p>
          <a:p>
            <a:r>
              <a:t> Tool use</a:t>
            </a:r>
          </a:p>
          <a:p>
            <a:r>
              <a:t> Agent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8375" y="4148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These terms explain the rest of the course.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AI — Beyond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Documents and PDFs</a:t>
            </a:r>
          </a:p>
          <a:p>
            <a:r>
              <a:t> Spreadsheets and CSVs</a:t>
            </a:r>
          </a:p>
          <a:p>
            <a:r>
              <a:t> Screenshots and photos</a:t>
            </a:r>
          </a:p>
          <a:p>
            <a:r>
              <a:t> Charts and diagrams</a:t>
            </a:r>
          </a:p>
          <a:p>
            <a:r>
              <a:t> Audio and video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4900" y="49871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file can be the prompt.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Other Half — Rules-Based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If-this-then-that logic</a:t>
            </a:r>
          </a:p>
          <a:p>
            <a:r>
              <a:t> Email filters</a:t>
            </a:r>
          </a:p>
          <a:p>
            <a:r>
              <a:t> Spreadsheet formulas</a:t>
            </a:r>
          </a:p>
          <a:p>
            <a:r>
              <a:t> Workflow tools</a:t>
            </a:r>
          </a:p>
          <a:p>
            <a:r>
              <a:t> Approval chains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371001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Rules are not obsolete. They are part of the automation stack.</a:t>
            </a:r>
          </a:p>
        </p:txBody>
      </p:sp>
      <p:pic>
        <p:nvPicPr>
          <p:cNvPr id="6" name="Picture 5" descr="pexels-joshuamiranda-40276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4987131"/>
            <a:ext cx="3793236" cy="25288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vs. Rules-Based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Core difference:</a:t>
            </a:r>
            <a:r>
              <a:rPr b="1" dirty="0"/>
              <a:t> rules follow a script; AI interprets messy language.</a:t>
            </a:r>
          </a:p>
          <a:p>
            <a:endParaRPr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dirty="0"/>
              <a:t> They fail in</a:t>
            </a:r>
            <a:r>
              <a:rPr b="1" dirty="0"/>
              <a:t> opposite</a:t>
            </a:r>
            <a:r>
              <a:rPr dirty="0"/>
              <a:t> directions — so they pair well.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263263"/>
            <a:ext cx="8915400" cy="11805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9237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Use rules for stable signals. Use AI for messy language. Review the exceptions.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The Same Task, Two 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Task: route support requests</a:t>
            </a:r>
          </a:p>
          <a:p>
            <a:r>
              <a:rPr dirty="0"/>
              <a:t> Sample data:</a:t>
            </a:r>
            <a:r>
              <a:rPr dirty="0">
                <a:latin typeface="Courier New"/>
              </a:rPr>
              <a:t> lab01-routing-requests.csv</a:t>
            </a:r>
          </a:p>
          <a:p>
            <a:r>
              <a:rPr dirty="0"/>
              <a:t> Approach A: rules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Approach B: AI interpretation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2669435"/>
            <a:ext cx="8915400" cy="118053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" y="5653033"/>
            <a:ext cx="6197600" cy="520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04900" y="677009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Same task. Different automation behavior.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on the Real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Expected keywords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Missing keywords</a:t>
            </a:r>
          </a:p>
          <a:p>
            <a:r>
              <a:rPr dirty="0"/>
              <a:t> Clear intent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015331"/>
            <a:ext cx="8915400" cy="13684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5900" y="584362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Rules handle stable signals. AI handles messy language.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 Combine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Rules first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AI for interpretation</a:t>
            </a:r>
          </a:p>
          <a:p>
            <a:r>
              <a:rPr dirty="0"/>
              <a:t> Rules and humans for control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09480"/>
            <a:ext cx="8915400" cy="2928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0288" y="701942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will build this shape again in Module 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2026 Landscape — Assistants As Workbenches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Reasoning modes</a:t>
            </a:r>
          </a:p>
          <a:p>
            <a:r>
              <a:t> File upload</a:t>
            </a:r>
          </a:p>
          <a:p>
            <a:r>
              <a:t> Data analysis</a:t>
            </a:r>
          </a:p>
          <a:p>
            <a:r>
              <a:t> Image understanding</a:t>
            </a:r>
          </a:p>
          <a:p>
            <a:r>
              <a:t> Project context</a:t>
            </a:r>
          </a:p>
          <a:p>
            <a:r>
              <a:t> Connectors and apps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7425" y="6434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This class uses ChatGPT Enterprise in the VM.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Assistant</a:t>
            </a:r>
          </a:p>
          <a:p>
            <a:r>
              <a:t> Tool use</a:t>
            </a:r>
          </a:p>
          <a:p>
            <a:r>
              <a:t> Automation</a:t>
            </a:r>
          </a:p>
          <a:p>
            <a:r>
              <a:t> Agent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3386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From answering to acting.</a:t>
            </a:r>
          </a:p>
        </p:txBody>
      </p:sp>
      <p:pic>
        <p:nvPicPr>
          <p:cNvPr id="6" name="Picture 5" descr="Agentic_Loop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5223242"/>
            <a:ext cx="5441950" cy="2720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Myths — In Both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Always right</a:t>
            </a:r>
          </a:p>
          <a:p>
            <a:r>
              <a:t> Already knows your business</a:t>
            </a:r>
          </a:p>
          <a:p>
            <a:r>
              <a:t> Replaces the whole team</a:t>
            </a:r>
          </a:p>
          <a:p>
            <a:r>
              <a:t> Just hype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850" y="5291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realistic view is more useful than either myth.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Is Genuinely Good 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Drafting</a:t>
            </a:r>
          </a:p>
          <a:p>
            <a:r>
              <a:t> Summarizing</a:t>
            </a:r>
          </a:p>
          <a:p>
            <a:r>
              <a:t> Rewriting</a:t>
            </a:r>
          </a:p>
          <a:p>
            <a:r>
              <a:t> Extracting structure</a:t>
            </a:r>
          </a:p>
          <a:p>
            <a:r>
              <a:t> Classifying and routing</a:t>
            </a:r>
          </a:p>
          <a:p>
            <a:r>
              <a:t> Explaining</a:t>
            </a:r>
          </a:p>
          <a:p>
            <a:r>
              <a:t> Comparing options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5113" y="58253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Language-heavy work with fast review loops.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Is Weak At — and Needs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Fresh facts</a:t>
            </a:r>
          </a:p>
          <a:p>
            <a:r>
              <a:t> Exact arithmetic</a:t>
            </a:r>
          </a:p>
          <a:p>
            <a:r>
              <a:t> Citations and sources</a:t>
            </a:r>
          </a:p>
          <a:p>
            <a:r>
              <a:t> Private facts not provided</a:t>
            </a:r>
          </a:p>
          <a:p>
            <a:r>
              <a:t> Legal, medical, financial advice</a:t>
            </a:r>
          </a:p>
          <a:p>
            <a:r>
              <a:t> Consequential actions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34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Higher consequence = stronger verification.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AI Operations for Business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does it fit?</a:t>
            </a:r>
          </a:p>
          <a:p>
            <a:r>
              <a:t> What data is allowed?</a:t>
            </a:r>
          </a:p>
          <a:p>
            <a:r>
              <a:t> Who reviews the output?</a:t>
            </a:r>
          </a:p>
          <a:p>
            <a:r>
              <a:t> How do we know it is working?</a:t>
            </a:r>
          </a:p>
          <a:p>
            <a:r>
              <a:t> What are the guardrails?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5967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AI at work is an operating model, not a demo.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Habits — Starting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Approved accounts and data</a:t>
            </a:r>
          </a:p>
          <a:p>
            <a:r>
              <a:t> No confidential material in public tools</a:t>
            </a:r>
          </a:p>
          <a:p>
            <a:r>
              <a:t> Ask for assumptions and uncertainties</a:t>
            </a:r>
          </a:p>
          <a:p>
            <a:r>
              <a:t> Verify before reuse</a:t>
            </a:r>
          </a:p>
          <a:p>
            <a:r>
              <a:t> Human in the loop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86632" y="384227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Good habits are cheap now and expensive later.</a:t>
            </a:r>
          </a:p>
        </p:txBody>
      </p:sp>
      <p:pic>
        <p:nvPicPr>
          <p:cNvPr id="6" name="Picture 5" descr="pexels-ysnapshotjournal-1675356955-345918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4710074"/>
            <a:ext cx="1738312" cy="30903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Review — 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T</a:t>
            </a:r>
            <a:r>
              <a:rPr dirty="0"/>
              <a:t>ask</a:t>
            </a:r>
          </a:p>
          <a:p>
            <a:r>
              <a:rPr dirty="0"/>
              <a:t> Fit</a:t>
            </a:r>
          </a:p>
          <a:p>
            <a:r>
              <a:rPr dirty="0"/>
              <a:t> Review point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12004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Spot three workflows in your own department where AI could add real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187" y="4148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Keep this list for the capstone.</a:t>
            </a:r>
          </a:p>
        </p:txBody>
      </p:sp>
      <p:pic>
        <p:nvPicPr>
          <p:cNvPr id="7" name="Picture 6" descr="pexels-rdne-70455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5063331"/>
            <a:ext cx="3906012" cy="26043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 —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Generative AI</a:t>
            </a:r>
          </a:p>
          <a:p>
            <a:r>
              <a:t> Core terms</a:t>
            </a:r>
          </a:p>
          <a:p>
            <a:r>
              <a:t> Rules vs AI</a:t>
            </a:r>
          </a:p>
          <a:p>
            <a:r>
              <a:t> Assistants and agents</a:t>
            </a:r>
          </a:p>
          <a:p>
            <a:r>
              <a:t> Good fits and weak spots</a:t>
            </a:r>
          </a:p>
          <a:p>
            <a:r>
              <a:t> Operating model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0426" y="5139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Fast drafting and analysis; human judgment still owns the outcome.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01 - Rules Automation vs AI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Stop here and run Lab 01.</a:t>
            </a:r>
          </a:p>
          <a:p>
            <a:r>
              <a:rPr dirty="0"/>
              <a:t> You will:</a:t>
            </a:r>
          </a:p>
          <a:p>
            <a:r>
              <a:rPr dirty="0"/>
              <a:t> Open</a:t>
            </a:r>
            <a:r>
              <a:rPr dirty="0">
                <a:latin typeface="Courier New"/>
              </a:rPr>
              <a:t> labs/assets/lab01-routing-requests.csv</a:t>
            </a:r>
            <a:r>
              <a:rPr dirty="0"/>
              <a:t> .</a:t>
            </a:r>
          </a:p>
          <a:p>
            <a:r>
              <a:rPr dirty="0"/>
              <a:t> Ask ChatGPT to simulate a</a:t>
            </a:r>
            <a:r>
              <a:rPr b="1" dirty="0"/>
              <a:t> rules engine</a:t>
            </a:r>
            <a:r>
              <a:rPr dirty="0"/>
              <a:t> using exact keyword rules.</a:t>
            </a:r>
          </a:p>
          <a:p>
            <a:r>
              <a:rPr dirty="0"/>
              <a:t> Ask ChatGPT to route the same six requests as an</a:t>
            </a:r>
            <a:r>
              <a:rPr b="1" dirty="0"/>
              <a:t> AI assistant</a:t>
            </a:r>
            <a:r>
              <a:rPr dirty="0"/>
              <a:t> that reads meaning.</a:t>
            </a:r>
          </a:p>
          <a:p>
            <a:r>
              <a:rPr dirty="0"/>
              <a:t> Compare the two tables and note where rules were sufficient vs where AI added value.</a:t>
            </a:r>
          </a:p>
          <a:p>
            <a:r>
              <a:rPr dirty="0"/>
              <a:t> Write one sentence describing a hybrid workflow.</a:t>
            </a:r>
          </a:p>
          <a:p>
            <a:r>
              <a:rPr b="1" dirty="0"/>
              <a:t> Deliverable:</a:t>
            </a:r>
            <a:r>
              <a:rPr dirty="0"/>
              <a:t> rules-engine table, AI routing table, comparison table, and one hybrid workflow sentence.</a:t>
            </a:r>
          </a:p>
          <a:p>
            <a:r>
              <a:rPr b="1" dirty="0"/>
              <a:t> Time:</a:t>
            </a:r>
            <a:r>
              <a:rPr dirty="0"/>
              <a:t> ~35-45 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314700" y="6165983"/>
            <a:ext cx="5943600" cy="1899025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Instructor note: This is the first lab of the course. Run it as a guided, screen- shared walkthrough with the whole class — do it together, step by step, rather than turning students loose. Non-technical students calibrate best when the first lab is done as a group; it sets the pattern for every lab that follows.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378300</TotalTime>
  <Words>1168</Words>
  <Application>Microsoft Macintosh PowerPoint</Application>
  <PresentationFormat>Custom</PresentationFormat>
  <Paragraphs>238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Foundations of Generative AI in Business</vt:lpstr>
      <vt:lpstr>Why This Module</vt:lpstr>
      <vt:lpstr>What Generative AI Is</vt:lpstr>
      <vt:lpstr>What Generative AI Is </vt:lpstr>
      <vt:lpstr>How a Language Model Works, in Plain Language</vt:lpstr>
      <vt:lpstr>Key Terms — Without the Jargon (1 of 2)</vt:lpstr>
      <vt:lpstr>Key Terms — Without the Jargon (2 of 2)</vt:lpstr>
      <vt:lpstr>Multimodal AI — Beyond Text</vt:lpstr>
      <vt:lpstr>The Other Half — Rules-Based Automation</vt:lpstr>
      <vt:lpstr>Generative AI vs. Rules-Based Automation</vt:lpstr>
      <vt:lpstr>Worked Example — The Same Task, Two Ways</vt:lpstr>
      <vt:lpstr>What Happens on the Real Rows</vt:lpstr>
      <vt:lpstr>Why You Combine Them</vt:lpstr>
      <vt:lpstr>The 2026 Landscape — Assistants As Workbenches</vt:lpstr>
      <vt:lpstr>The Rise of AI Agents</vt:lpstr>
      <vt:lpstr>Common Myths — In Both Directions</vt:lpstr>
      <vt:lpstr>What AI Is Genuinely Good At</vt:lpstr>
      <vt:lpstr>What AI Is Weak At — and Needs Review</vt:lpstr>
      <vt:lpstr>Intro to AI Operations for Business Leaders</vt:lpstr>
      <vt:lpstr>Safety Habits — Starting Today</vt:lpstr>
      <vt:lpstr>Module Review — Your Turn</vt:lpstr>
      <vt:lpstr>Foundations — Cheat Sheet</vt:lpstr>
      <vt:lpstr>Lab 01 - Rules Automation vs AI Interpretation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4140</cp:revision>
  <cp:lastPrinted>2010-01-03T02:41:41Z</cp:lastPrinted>
  <dcterms:created xsi:type="dcterms:W3CDTF">2010-07-13T15:22:01Z</dcterms:created>
  <dcterms:modified xsi:type="dcterms:W3CDTF">2026-08-31T03:21:42Z</dcterms:modified>
</cp:coreProperties>
</file>