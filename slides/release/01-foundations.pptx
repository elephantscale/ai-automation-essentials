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5"/>
  </p:notesMasterIdLst>
  <p:handoutMasterIdLst>
    <p:handoutMasterId r:id="rId2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64" autoAdjust="0"/>
    <p:restoredTop sz="86027" autoAdjust="0"/>
  </p:normalViewPr>
  <p:slideViewPr>
    <p:cSldViewPr>
      <p:cViewPr varScale="1">
        <p:scale>
          <a:sx n="78" d="100"/>
          <a:sy n="78" d="100"/>
        </p:scale>
        <p:origin x="3640" y="480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Foundations of Generative 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 Everyone at work is now expected to have an opinion about AI. This module gives you a</a:t>
            </a:r>
            <a:r>
              <a:rPr b="1"/>
              <a:t> grounded</a:t>
            </a:r>
            <a:r>
              <a:t> one.</a:t>
            </a:r>
          </a:p>
          <a:p>
            <a:pPr lvl="1"/>
            <a:r>
              <a:t> Not hype, not fear — a practical, working mental model you can defend in a meeting.</a:t>
            </a:r>
          </a:p>
          <a:p>
            <a:r>
              <a:t> The conversation has moved past "write me a better email." Organizations are wiring AI into</a:t>
            </a:r>
            <a:r>
              <a:rPr b="1"/>
              <a:t> workflows</a:t>
            </a:r>
            <a:r>
              <a:t> — routing tickets, filing documents, triaging inboxes, watching data for exceptions.</a:t>
            </a:r>
          </a:p>
          <a:p>
            <a:r>
              <a:t> By the end of this module you will be able to:</a:t>
            </a:r>
          </a:p>
          <a:p>
            <a:pPr lvl="1"/>
            <a:r>
              <a:t> Say plainly what generative AI</a:t>
            </a:r>
            <a:r>
              <a:rPr b="1"/>
              <a:t> is and isn't</a:t>
            </a:r>
            <a:r>
              <a:t> , and how it works — without the jargon.</a:t>
            </a:r>
          </a:p>
          <a:p>
            <a:pPr lvl="1"/>
            <a:r>
              <a:t> Use the core terms correctly: model, context, tokens, prompt, hallucination, bias, agent, tool use.</a:t>
            </a:r>
          </a:p>
          <a:p>
            <a:pPr lvl="1"/>
            <a:r>
              <a:t> Tell</a:t>
            </a:r>
            <a:r>
              <a:rPr b="1"/>
              <a:t> generative AI apart from rules-based automation</a:t>
            </a:r>
            <a:r>
              <a:t> — and know when to combine them.</a:t>
            </a:r>
          </a:p>
          <a:p>
            <a:pPr lvl="1"/>
            <a:r>
              <a:t> Name the 2026 assistant landscape and what an "AI agent" actually is.</a:t>
            </a:r>
          </a:p>
          <a:p>
            <a:pPr lvl="1"/>
            <a:r>
              <a:t> Separate the real capabilities from the common myths, in both directions.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Generative AI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Generative AI</a:t>
            </a:r>
            <a:r>
              <a:t> produces new content — text, tables, images, code, summaries — from a description of what you want.</a:t>
            </a:r>
          </a:p>
          <a:p>
            <a:pPr lvl="1"/>
            <a:r>
              <a:t> You ask in plain language; it writes, drafts, rewrites, extracts, classifies, explains.</a:t>
            </a:r>
          </a:p>
          <a:p>
            <a:r>
              <a:t> The engine behind ChatGPT Enterprise and similar assistants is a</a:t>
            </a:r>
            <a:r>
              <a:rPr b="1"/>
              <a:t> large language model (LLM)</a:t>
            </a:r>
            <a:r>
              <a:t> .</a:t>
            </a:r>
          </a:p>
          <a:p>
            <a:pPr lvl="1"/>
            <a:r>
              <a:t> Trained on an enormous amount of text; learned the patterns of how language fits together.</a:t>
            </a:r>
          </a:p>
          <a:p>
            <a:r>
              <a:t> One capability, enormous range: the same assistant can be a writer, an analyst, a tutor, a reviewer, a planner — set by</a:t>
            </a:r>
            <a:r>
              <a:rPr b="1"/>
              <a:t> your prompt</a:t>
            </a:r>
            <a:r>
              <a:t> , not a different product.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mikebird-1917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5697961"/>
            <a:ext cx="4060825" cy="22848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Generative AI Is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Not a fact database.</a:t>
            </a:r>
            <a:r>
              <a:t> It doesn't "look things up." It predicts likely text. Sometimes that text is true; sometimes it's plausible and wrong.</a:t>
            </a:r>
          </a:p>
          <a:p>
            <a:r>
              <a:rPr b="1"/>
              <a:t> Not a calculator.</a:t>
            </a:r>
            <a:r>
              <a:t> It</a:t>
            </a:r>
            <a:r>
              <a:rPr i="1"/>
              <a:t> predicts</a:t>
            </a:r>
            <a:r>
              <a:t> numbers rather than computing them. Use a real tool for exact arithmetic.</a:t>
            </a:r>
          </a:p>
          <a:p>
            <a:r>
              <a:rPr b="1"/>
              <a:t> Not aware of your company.</a:t>
            </a:r>
            <a:r>
              <a:t> It knows nothing about your customers, your policies, or last week's meeting unless you provide it.</a:t>
            </a:r>
          </a:p>
          <a:p>
            <a:r>
              <a:rPr b="1"/>
              <a:t> Not up to the minute.</a:t>
            </a:r>
            <a:r>
              <a:t> Its training has a cutoff date; without web access it doesn't know today's news.</a:t>
            </a:r>
          </a:p>
          <a:p>
            <a:r>
              <a:rPr b="1"/>
              <a:t> Not a decision-maker.</a:t>
            </a:r>
            <a:r>
              <a:t> It's a drafting and analysis assistant. The human stays accountable for anything consequential.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How a Language Model Works, in Plain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Given the text so far, an LLM predicts what comes next —</a:t>
            </a:r>
            <a:r>
              <a:rPr b="1"/>
              <a:t> one piece at a time</a:t>
            </a:r>
            <a:r>
              <a:t> — then repeats. That's the whole loop.</a:t>
            </a:r>
          </a:p>
          <a:p>
            <a:r>
              <a:t> No fact database inside, no little reasoner — an extraordinarily good</a:t>
            </a:r>
            <a:r>
              <a:rPr b="1"/>
              <a:t> pattern-completer</a:t>
            </a:r>
            <a:r>
              <a:t> , trained on vast amounts of text.</a:t>
            </a:r>
          </a:p>
          <a:p>
            <a:r>
              <a:t> You need the</a:t>
            </a:r>
            <a:r>
              <a:rPr b="1"/>
              <a:t> consequences</a:t>
            </a:r>
            <a:r>
              <a:t> , not the math:</a:t>
            </a:r>
          </a:p>
          <a:p>
            <a:pPr lvl="1"/>
            <a:r>
              <a:t> Fluent, well-structured drafts,</a:t>
            </a:r>
            <a:r>
              <a:rPr b="1"/>
              <a:t> fast</a:t>
            </a:r>
            <a:r>
              <a:t> .</a:t>
            </a:r>
          </a:p>
          <a:p>
            <a:pPr lvl="1"/>
            <a:r>
              <a:t> Can be</a:t>
            </a:r>
            <a:r>
              <a:rPr b="1"/>
              <a:t> confidently wrong</a:t>
            </a:r>
            <a:r>
              <a:t> — a smooth sentence is not a true one.</a:t>
            </a:r>
          </a:p>
          <a:p>
            <a:pPr lvl="1"/>
            <a:r>
              <a:t> Doesn't know your</a:t>
            </a:r>
            <a:r>
              <a:rPr b="1"/>
              <a:t> private context</a:t>
            </a:r>
            <a:r>
              <a:t> unless you provide it.</a:t>
            </a:r>
          </a:p>
          <a:p>
            <a:pPr lvl="1"/>
            <a:r>
              <a:t> Follows</a:t>
            </a:r>
            <a:r>
              <a:rPr b="1"/>
              <a:t> specific</a:t>
            </a:r>
            <a:r>
              <a:t> instructions far better than vague ones.</a:t>
            </a:r>
          </a:p>
          <a:p>
            <a:pPr lvl="1"/>
            <a:r>
              <a:t> Works better when the</a:t>
            </a:r>
            <a:r>
              <a:rPr b="1"/>
              <a:t> source material is separated</a:t>
            </a:r>
            <a:r>
              <a:t> from the instructions.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 — Without the Jargon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Model</a:t>
            </a:r>
            <a:r>
              <a:t> — the AI system itself. A trained pattern-completer you send text to and get text back.</a:t>
            </a:r>
          </a:p>
          <a:p>
            <a:r>
              <a:rPr b="1"/>
              <a:t> Prompt</a:t>
            </a:r>
            <a:r>
              <a:t> — what you type: your instructions plus any material to work on. Your half of the conversation.</a:t>
            </a:r>
          </a:p>
          <a:p>
            <a:r>
              <a:rPr b="1"/>
              <a:t> Context</a:t>
            </a:r>
            <a:r>
              <a:t> — everything the model can "see" at once: your prompt, the files you attached, the conversation so far. Outside the context, it's blind.</a:t>
            </a:r>
          </a:p>
          <a:p>
            <a:r>
              <a:rPr b="1"/>
              <a:t> Tokens</a:t>
            </a:r>
            <a:r>
              <a:t> — the small chunks (roughly word-pieces) the model reads and writes in. Why it matters: there's a</a:t>
            </a:r>
            <a:r>
              <a:rPr b="1"/>
              <a:t> limit</a:t>
            </a:r>
            <a:r>
              <a:t> to how much context fits, and paid tools</a:t>
            </a:r>
            <a:r>
              <a:rPr b="1"/>
              <a:t> bill per token</a:t>
            </a:r>
            <a:r>
              <a:t> 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markus-winkler-1430818-40654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5748619"/>
            <a:ext cx="3454343" cy="23028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 — Without the Jargon (2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Hallucination</a:t>
            </a:r>
            <a:r>
              <a:t> — a confident, fluent answer that is simply</a:t>
            </a:r>
            <a:r>
              <a:rPr b="1"/>
              <a:t> made up</a:t>
            </a:r>
            <a:r>
              <a:t> : an invented statistic, a fake citation, a plausible wrong name. The failure mode to respect most.</a:t>
            </a:r>
          </a:p>
          <a:p>
            <a:r>
              <a:rPr b="1"/>
              <a:t> Bias</a:t>
            </a:r>
            <a:r>
              <a:t> — the model reflects patterns in its training data, including unfair ones. It can skew tone, assumptions, or recommendations in ways you must watch for.</a:t>
            </a:r>
          </a:p>
          <a:p>
            <a:r>
              <a:rPr b="1"/>
              <a:t> Tool use</a:t>
            </a:r>
            <a:r>
              <a:t> — when an assistant is allowed to</a:t>
            </a:r>
            <a:r>
              <a:rPr i="1"/>
              <a:t> do</a:t>
            </a:r>
            <a:r>
              <a:t> something beyond writing text: search the web, run a calculation, read a file, call another app.</a:t>
            </a:r>
          </a:p>
          <a:p>
            <a:r>
              <a:rPr b="1"/>
              <a:t> Agent</a:t>
            </a:r>
            <a:r>
              <a:t> — an AI that, given a goal,</a:t>
            </a:r>
            <a:r>
              <a:rPr b="1"/>
              <a:t> chooses its own steps</a:t>
            </a:r>
            <a:r>
              <a:t> and uses tools to pursue it, instead of following a fixed script. More on this shortly.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Multimodal AI — Beyond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Multimodal</a:t>
            </a:r>
            <a:r>
              <a:t> = the assistant reads and produces more than words. Hand the material over directly instead of retyping it.</a:t>
            </a:r>
          </a:p>
          <a:p>
            <a:r>
              <a:t> Takes in:</a:t>
            </a:r>
          </a:p>
          <a:p>
            <a:pPr lvl="1"/>
            <a:r>
              <a:t> Documents and PDFs</a:t>
            </a:r>
          </a:p>
          <a:p>
            <a:pPr lvl="1"/>
            <a:r>
              <a:t> Spreadsheets and CSVs</a:t>
            </a:r>
          </a:p>
          <a:p>
            <a:pPr lvl="1"/>
            <a:r>
              <a:t> Screenshots and photos</a:t>
            </a:r>
          </a:p>
          <a:p>
            <a:pPr lvl="1"/>
            <a:r>
              <a:t> Charts and diagrams</a:t>
            </a:r>
          </a:p>
          <a:p>
            <a:pPr lvl="1"/>
            <a:r>
              <a:t> Audio (and in some tools, video)</a:t>
            </a:r>
          </a:p>
          <a:p>
            <a:r>
              <a:t> Produces text, tables, and</a:t>
            </a:r>
            <a:r>
              <a:rPr b="1"/>
              <a:t> generated images</a:t>
            </a:r>
            <a:r>
              <a:t> on the way back.</a:t>
            </a:r>
          </a:p>
          <a:p>
            <a:r>
              <a:t> Changes the workflow: upload a messy vendor spreadsheet and say</a:t>
            </a:r>
            <a:r>
              <a:rPr i="1"/>
              <a:t> "flag the missing dates and merge the duplicate categories."</a:t>
            </a:r>
            <a:r>
              <a:t> The file</a:t>
            </a:r>
            <a:r>
              <a:rPr b="1"/>
              <a:t> is</a:t>
            </a:r>
            <a:r>
              <a:t> the input.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Other Half — Rules-Based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Long before generative AI, software has automated work with</a:t>
            </a:r>
            <a:r>
              <a:rPr b="1" dirty="0"/>
              <a:t> rules-based automation</a:t>
            </a:r>
            <a:r>
              <a:rPr dirty="0"/>
              <a:t> : fixed, explicit logic a person wrote in advance.</a:t>
            </a:r>
          </a:p>
          <a:p>
            <a:pPr lvl="1"/>
            <a:r>
              <a:rPr dirty="0"/>
              <a:t> "</a:t>
            </a:r>
            <a:r>
              <a:rPr b="1" dirty="0"/>
              <a:t> If</a:t>
            </a:r>
            <a:r>
              <a:rPr dirty="0"/>
              <a:t> a new row is added,</a:t>
            </a:r>
            <a:r>
              <a:rPr b="1" dirty="0"/>
              <a:t> then</a:t>
            </a:r>
            <a:r>
              <a:rPr dirty="0"/>
              <a:t> copy it to this sheet and email the owner."</a:t>
            </a:r>
          </a:p>
          <a:p>
            <a:pPr lvl="1"/>
            <a:r>
              <a:rPr dirty="0"/>
              <a:t> "</a:t>
            </a:r>
            <a:r>
              <a:rPr b="1" dirty="0"/>
              <a:t> If</a:t>
            </a:r>
            <a:r>
              <a:rPr dirty="0"/>
              <a:t> the subject line contains 'invoice',</a:t>
            </a:r>
            <a:r>
              <a:rPr b="1" dirty="0"/>
              <a:t> then</a:t>
            </a:r>
            <a:r>
              <a:rPr dirty="0"/>
              <a:t> file it in the Finance folder."</a:t>
            </a:r>
          </a:p>
          <a:p>
            <a:r>
              <a:rPr dirty="0"/>
              <a:t> You already rely on this everywhere:</a:t>
            </a:r>
          </a:p>
          <a:p>
            <a:pPr lvl="1"/>
            <a:r>
              <a:rPr dirty="0"/>
              <a:t> Email filters and inbox rules</a:t>
            </a:r>
          </a:p>
          <a:p>
            <a:pPr lvl="1"/>
            <a:r>
              <a:rPr dirty="0"/>
              <a:t> Spreadsheet formulas</a:t>
            </a:r>
          </a:p>
          <a:p>
            <a:pPr lvl="1"/>
            <a:r>
              <a:rPr dirty="0"/>
              <a:t> Zapier / Make / Power Automate "if-this-then-that" flows</a:t>
            </a:r>
          </a:p>
          <a:p>
            <a:pPr lvl="1"/>
            <a:r>
              <a:rPr dirty="0"/>
              <a:t> Form routing, auto-responders, approval chains</a:t>
            </a:r>
          </a:p>
          <a:p>
            <a:r>
              <a:rPr dirty="0"/>
              <a:t> Its defining trait: it does</a:t>
            </a:r>
            <a:r>
              <a:rPr b="1" dirty="0"/>
              <a:t> exactly</a:t>
            </a:r>
            <a:r>
              <a:rPr dirty="0"/>
              <a:t> what it's told, every time, and</a:t>
            </a:r>
            <a:r>
              <a:rPr b="1" dirty="0"/>
              <a:t> nothing</a:t>
            </a:r>
            <a:r>
              <a:rPr dirty="0"/>
              <a:t> it wasn't told.</a:t>
            </a:r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joshuamiranda-40276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100" y="6404568"/>
            <a:ext cx="2105025" cy="140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Generative AI vs. Rules-Based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core difference:</a:t>
            </a:r>
            <a:r>
              <a:rPr b="1" dirty="0"/>
              <a:t> rules-based follows a script you wrote; generative AI interprets language you didn't anticipate.</a:t>
            </a:r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endParaRPr b="1" dirty="0"/>
          </a:p>
          <a:p>
            <a:r>
              <a:rPr dirty="0"/>
              <a:t> Neither is "better." They fail in</a:t>
            </a:r>
            <a:r>
              <a:rPr b="1" dirty="0"/>
              <a:t> opposite</a:t>
            </a:r>
            <a:r>
              <a:rPr dirty="0"/>
              <a:t> directions — and that's exactly why they pair so well.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87" y="2396331"/>
            <a:ext cx="8915400" cy="15932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Worked Example — The Same Task,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Task:</a:t>
            </a:r>
            <a:r>
              <a:rPr b="1" dirty="0"/>
              <a:t> route incoming support requests</a:t>
            </a:r>
            <a:r>
              <a:rPr dirty="0"/>
              <a:t> to the right queue. Sample data:</a:t>
            </a:r>
            <a:r>
              <a:rPr dirty="0">
                <a:latin typeface="Courier New"/>
              </a:rPr>
              <a:t> labs/assets/sample-support-</a:t>
            </a:r>
            <a:r>
              <a:rPr dirty="0" err="1">
                <a:latin typeface="Courier New"/>
              </a:rPr>
              <a:t>requests.csv</a:t>
            </a:r>
            <a:r>
              <a:rPr dirty="0"/>
              <a:t> (5 requests).</a:t>
            </a:r>
          </a:p>
          <a:p>
            <a:r>
              <a:rPr b="1" dirty="0"/>
              <a:t> Approach A — Rules-based (keyword matching):</a:t>
            </a:r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Predictable, instant, free, fully auditable — you can read exactly why each request went where.</a:t>
            </a:r>
          </a:p>
          <a:p>
            <a:r>
              <a:rPr b="1" dirty="0"/>
              <a:t> Approach B — Generative AI (understands meaning):</a:t>
            </a:r>
          </a:p>
          <a:p>
            <a:endParaRPr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Reads intent even when the keywords aren't there — catches the request that</a:t>
            </a:r>
            <a:r>
              <a:rPr i="1" dirty="0"/>
              <a:t> means</a:t>
            </a:r>
            <a:r>
              <a:rPr dirty="0"/>
              <a:t> "billing" without using the 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95108"/>
            <a:ext cx="8915400" cy="946124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01531"/>
            <a:ext cx="8915400" cy="7198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Happens on the Real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Run both approaches on the five sample requests. Watch</a:t>
            </a:r>
            <a:r>
              <a:rPr b="1" dirty="0"/>
              <a:t> where each one wins:</a:t>
            </a:r>
          </a:p>
          <a:p>
            <a:endParaRPr b="1" dirty="0"/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Rules-based won row 2</a:t>
            </a:r>
            <a:r>
              <a:rPr dirty="0"/>
              <a:t> — the keyword "patient records" is an exact, reliable trigger, and you</a:t>
            </a:r>
            <a:r>
              <a:rPr i="1" dirty="0"/>
              <a:t> want</a:t>
            </a:r>
            <a:r>
              <a:rPr dirty="0"/>
              <a:t> that one deterministic and auditable.</a:t>
            </a:r>
          </a:p>
          <a:p>
            <a:r>
              <a:rPr b="1" dirty="0"/>
              <a:t> AI won rows 1, 3, 4, 5</a:t>
            </a:r>
            <a:r>
              <a:rPr dirty="0"/>
              <a:t> — no keyword matched, but it understood what each customer actually wanted, and it</a:t>
            </a:r>
            <a:r>
              <a:rPr i="1" dirty="0"/>
              <a:t> flagged row 3 as ambiguous</a:t>
            </a:r>
            <a:r>
              <a:rPr dirty="0"/>
              <a:t> on its own.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67731"/>
            <a:ext cx="8915400" cy="11458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You Combine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strongest real-world workflows use</a:t>
            </a:r>
            <a:r>
              <a:rPr b="1" dirty="0"/>
              <a:t> both</a:t>
            </a:r>
            <a:r>
              <a:rPr dirty="0"/>
              <a:t> , each where it's strong: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Rules handle the</a:t>
            </a:r>
            <a:r>
              <a:rPr b="1" dirty="0"/>
              <a:t> known, high-stakes, must-be-exact</a:t>
            </a:r>
            <a:r>
              <a:rPr dirty="0"/>
              <a:t> cases. AI handles the</a:t>
            </a:r>
            <a:r>
              <a:rPr b="1" dirty="0"/>
              <a:t> messy, open-ended, language-heavy</a:t>
            </a:r>
            <a:r>
              <a:rPr dirty="0"/>
              <a:t> middle. Rules then enforce the</a:t>
            </a:r>
            <a:r>
              <a:rPr b="1" dirty="0"/>
              <a:t> safe routing</a:t>
            </a:r>
            <a:r>
              <a:rPr dirty="0"/>
              <a:t> of the AI's output.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2091531"/>
            <a:ext cx="8915400" cy="26310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The 2026 Landscape — Assistants As Workbenches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Modern assistants are no longer just chat boxes. They are workbenches:</a:t>
            </a:r>
          </a:p>
          <a:p>
            <a:pPr lvl="1"/>
            <a:r>
              <a:t> reasoning modes</a:t>
            </a:r>
          </a:p>
          <a:p>
            <a:pPr lvl="1"/>
            <a:r>
              <a:t> file upload</a:t>
            </a:r>
          </a:p>
          <a:p>
            <a:pPr lvl="1"/>
            <a:r>
              <a:t> data analysis</a:t>
            </a:r>
          </a:p>
          <a:p>
            <a:pPr lvl="1"/>
            <a:r>
              <a:t> image understanding</a:t>
            </a:r>
          </a:p>
          <a:p>
            <a:pPr lvl="1"/>
            <a:r>
              <a:t> project-style context</a:t>
            </a:r>
          </a:p>
          <a:p>
            <a:pPr lvl="1"/>
            <a:r>
              <a:t> connectors or apps when enabled</a:t>
            </a:r>
          </a:p>
          <a:p>
            <a:r>
              <a:t> This class uses</a:t>
            </a:r>
            <a:r>
              <a:rPr b="1"/>
              <a:t> ChatGPT Enterprise</a:t>
            </a:r>
            <a:r>
              <a:t> in the VM, so everyone practices in the same approved workspace.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Rise of AI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Where the field is moving in 2026: from AI that</a:t>
            </a:r>
            <a:r>
              <a:rPr b="1" dirty="0"/>
              <a:t> answers</a:t>
            </a:r>
            <a:r>
              <a:rPr dirty="0"/>
              <a:t> to AI that</a:t>
            </a:r>
            <a:r>
              <a:rPr b="1" dirty="0"/>
              <a:t> acts</a:t>
            </a:r>
            <a:r>
              <a:rPr dirty="0"/>
              <a:t> .</a:t>
            </a:r>
          </a:p>
          <a:p>
            <a:r>
              <a:rPr dirty="0"/>
              <a:t> The ladder, rung by rung:</a:t>
            </a:r>
          </a:p>
          <a:p>
            <a:pPr lvl="1"/>
            <a:r>
              <a:rPr b="1" dirty="0"/>
              <a:t> Assistant</a:t>
            </a:r>
            <a:r>
              <a:rPr dirty="0"/>
              <a:t> — you ask, it answers. You do everything with the answer.</a:t>
            </a:r>
          </a:p>
          <a:p>
            <a:pPr lvl="1"/>
            <a:r>
              <a:rPr b="1" dirty="0"/>
              <a:t> Tool use</a:t>
            </a:r>
            <a:r>
              <a:rPr dirty="0"/>
              <a:t> — you ask, it searches the web or runs a calculation to answer better.</a:t>
            </a:r>
          </a:p>
          <a:p>
            <a:pPr lvl="1"/>
            <a:r>
              <a:rPr b="1" dirty="0"/>
              <a:t> Automation</a:t>
            </a:r>
            <a:r>
              <a:rPr dirty="0"/>
              <a:t> — a fixed workflow calls AI as one step, over and over, without you.</a:t>
            </a:r>
          </a:p>
          <a:p>
            <a:pPr lvl="1"/>
            <a:r>
              <a:rPr b="1" dirty="0"/>
              <a:t> Agent</a:t>
            </a:r>
            <a:r>
              <a:rPr dirty="0"/>
              <a:t> — given a goal, it</a:t>
            </a:r>
            <a:r>
              <a:rPr b="1" dirty="0"/>
              <a:t> plans its own steps</a:t>
            </a:r>
            <a:r>
              <a:rPr dirty="0"/>
              <a:t> , uses tools, and works toward the goal with less hand-holding.</a:t>
            </a:r>
          </a:p>
          <a:p>
            <a:r>
              <a:rPr dirty="0"/>
              <a:t> An agent handling "process this refund request" might: read the ticket → look up the order → check the policy → draft the reply → queue it for approval. It chose that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6" name="Picture 5" descr="A cartoon of a person sitting on a couch&#10;&#10;AI-generated content may be incorrect.">
            <a:extLst>
              <a:ext uri="{FF2B5EF4-FFF2-40B4-BE49-F238E27FC236}">
                <a16:creationId xmlns:a16="http://schemas.microsoft.com/office/drawing/2014/main" id="{413097ED-8B97-5F3B-EAEC-A52639DF5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6465601"/>
            <a:ext cx="3238500" cy="16192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Myths — In Both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Overhyped —</a:t>
            </a:r>
            <a:r>
              <a:rPr b="1"/>
              <a:t> AI can't really:</a:t>
            </a:r>
          </a:p>
          <a:p>
            <a:pPr lvl="1"/>
            <a:r>
              <a:t> "It's always right." No — it's confidently wrong on a predictable set of tasks.</a:t>
            </a:r>
          </a:p>
          <a:p>
            <a:pPr lvl="1"/>
            <a:r>
              <a:t> "It knows my business." No — not until you give it your context.</a:t>
            </a:r>
          </a:p>
          <a:p>
            <a:pPr lvl="1"/>
            <a:r>
              <a:t> "It'll replace the whole team." No — it drafts and accelerates; humans still decide.</a:t>
            </a:r>
          </a:p>
          <a:p>
            <a:pPr lvl="1"/>
            <a:r>
              <a:t> "It thinks like a person." No — it completes patterns; there's no understanding underneath.</a:t>
            </a:r>
          </a:p>
          <a:p>
            <a:r>
              <a:t> Underhyped —</a:t>
            </a:r>
            <a:r>
              <a:rPr b="1"/>
              <a:t> AI genuinely can:</a:t>
            </a:r>
          </a:p>
          <a:p>
            <a:pPr lvl="1"/>
            <a:r>
              <a:t> Turn messy notes into a clean, structured table in seconds.</a:t>
            </a:r>
          </a:p>
          <a:p>
            <a:pPr lvl="1"/>
            <a:r>
              <a:t> Read a 40-page document and answer questions grounded in it.</a:t>
            </a:r>
          </a:p>
          <a:p>
            <a:pPr lvl="1"/>
            <a:r>
              <a:t> Draft a first version of almost any routine business document.</a:t>
            </a:r>
          </a:p>
          <a:p>
            <a:pPr lvl="1"/>
            <a:r>
              <a:t> Classify, summarize, and extract at a volume no person would sit through.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Is Genuinely Good 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Point it at the work it's built for:</a:t>
            </a:r>
          </a:p>
          <a:p>
            <a:pPr lvl="1"/>
            <a:r>
              <a:rPr b="1"/>
              <a:t> Drafting</a:t>
            </a:r>
            <a:r>
              <a:t> from clear instructions.</a:t>
            </a:r>
          </a:p>
          <a:p>
            <a:pPr lvl="1"/>
            <a:r>
              <a:rPr b="1"/>
              <a:t> Summarizing</a:t>
            </a:r>
            <a:r>
              <a:t> long or dense material for a specific reader.</a:t>
            </a:r>
          </a:p>
          <a:p>
            <a:pPr lvl="1"/>
            <a:r>
              <a:rPr b="1"/>
              <a:t> Rewriting</a:t>
            </a:r>
            <a:r>
              <a:t> for tone, audience, or reading level.</a:t>
            </a:r>
          </a:p>
          <a:p>
            <a:pPr lvl="1"/>
            <a:r>
              <a:rPr b="1"/>
              <a:t> Extracting</a:t>
            </a:r>
            <a:r>
              <a:t> structure — messy notes into a clean table.</a:t>
            </a:r>
          </a:p>
          <a:p>
            <a:pPr lvl="1"/>
            <a:r>
              <a:rPr b="1"/>
              <a:t> Classifying and routing</a:t>
            </a:r>
            <a:r>
              <a:t> text by meaning, not just keywords.</a:t>
            </a:r>
          </a:p>
          <a:p>
            <a:pPr lvl="1"/>
            <a:r>
              <a:rPr b="1"/>
              <a:t> Explaining</a:t>
            </a:r>
            <a:r>
              <a:t> unfamiliar topics at the level you ask.</a:t>
            </a:r>
          </a:p>
          <a:p>
            <a:pPr lvl="1"/>
            <a:r>
              <a:rPr b="1"/>
              <a:t> Comparing</a:t>
            </a:r>
            <a:r>
              <a:t> options across criteria.</a:t>
            </a:r>
          </a:p>
          <a:p>
            <a:r>
              <a:t> Common thread: it rewards</a:t>
            </a:r>
            <a:r>
              <a:rPr b="1"/>
              <a:t> fluency, pattern recognition, and fast iteration</a:t>
            </a:r>
            <a:r>
              <a:t> — none of which require the AI to be a source of truth on its 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Is Weak At — and Needs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Needs a human check every time:</a:t>
            </a:r>
          </a:p>
          <a:p>
            <a:pPr lvl="1"/>
            <a:r>
              <a:rPr b="1"/>
              <a:t> Fresh facts / current events</a:t>
            </a:r>
            <a:r>
              <a:t> — knowledge cutoff; verify dates.</a:t>
            </a:r>
          </a:p>
          <a:p>
            <a:pPr lvl="1"/>
            <a:r>
              <a:rPr b="1"/>
              <a:t> Legal, medical, financial, compliance advice</a:t>
            </a:r>
            <a:r>
              <a:t> — a draft aid, never the authority.</a:t>
            </a:r>
          </a:p>
          <a:p>
            <a:pPr lvl="1"/>
            <a:r>
              <a:rPr b="1"/>
              <a:t> Exact arithmetic</a:t>
            </a:r>
            <a:r>
              <a:t> — it</a:t>
            </a:r>
            <a:r>
              <a:rPr i="1"/>
              <a:t> predicts</a:t>
            </a:r>
            <a:r>
              <a:t> numbers; use a real tool.</a:t>
            </a:r>
          </a:p>
          <a:p>
            <a:pPr lvl="1"/>
            <a:r>
              <a:rPr b="1"/>
              <a:t> Citations and sources</a:t>
            </a:r>
            <a:r>
              <a:t> — it can</a:t>
            </a:r>
            <a:r>
              <a:rPr b="1"/>
              <a:t> fabricate</a:t>
            </a:r>
            <a:r>
              <a:t> a plausible-looking reference.</a:t>
            </a:r>
          </a:p>
          <a:p>
            <a:pPr lvl="1"/>
            <a:r>
              <a:rPr b="1"/>
              <a:t> Private company facts</a:t>
            </a:r>
            <a:r>
              <a:t> you didn't provide — it will guess, fluently.</a:t>
            </a:r>
          </a:p>
          <a:p>
            <a:pPr lvl="1"/>
            <a:r>
              <a:rPr b="1"/>
              <a:t> Consequential actions</a:t>
            </a:r>
            <a:r>
              <a:t> — send, delete, publish, purchase, change a record.</a:t>
            </a:r>
          </a:p>
          <a:p>
            <a:r>
              <a:t> A confident invented answer is a</a:t>
            </a:r>
            <a:r>
              <a:rPr b="1"/>
              <a:t> hallucination</a:t>
            </a:r>
            <a:r>
              <a:t> — the failure mode to respect most.</a:t>
            </a:r>
          </a:p>
          <a:p>
            <a:pPr lvl="1"/>
            <a:r>
              <a:t> Mitigation: give it the source text, ask it to answer</a:t>
            </a:r>
            <a:r>
              <a:rPr i="1"/>
              <a:t> from that text</a:t>
            </a:r>
            <a:r>
              <a:t> , and flag what it can't support.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AI Operations for Business Leaders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Putting AI to work is an</a:t>
            </a:r>
            <a:r>
              <a:rPr b="1"/>
              <a:t> operational</a:t>
            </a:r>
            <a:r>
              <a:t> discipline, not a one-off experiment. Five questions a leader has to answer:</a:t>
            </a:r>
          </a:p>
          <a:p>
            <a:pPr lvl="1"/>
            <a:r>
              <a:rPr b="1"/>
              <a:t> Where does it fit?</a:t>
            </a:r>
            <a:r>
              <a:t> Pick real, repeatable, language-heavy workflows — not "everywhere."</a:t>
            </a:r>
          </a:p>
          <a:p>
            <a:pPr lvl="1"/>
            <a:r>
              <a:rPr b="1"/>
              <a:t> What data is allowed?</a:t>
            </a:r>
            <a:r>
              <a:t> Approved accounts and approved data; never paste regulated or confidential material into a public tool.</a:t>
            </a:r>
          </a:p>
          <a:p>
            <a:pPr lvl="1"/>
            <a:r>
              <a:rPr b="1"/>
              <a:t> Who reviews the output?</a:t>
            </a:r>
            <a:r>
              <a:t> A named human in the loop for anything consequential.</a:t>
            </a:r>
          </a:p>
          <a:p>
            <a:pPr lvl="1"/>
            <a:r>
              <a:rPr b="1"/>
              <a:t> How do we know it's working?</a:t>
            </a:r>
            <a:r>
              <a:t> Track time saved, error rates, and adoption — not vibes.</a:t>
            </a:r>
          </a:p>
          <a:p>
            <a:pPr lvl="1"/>
            <a:r>
              <a:rPr b="1"/>
              <a:t> What are the guardrails?</a:t>
            </a:r>
            <a:r>
              <a:t> A simple AI-use policy so the whole team plays by the same rules.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6" name="Picture 5" descr="A group of people sitting around a table&#10;&#10;AI-generated content may be incorrect.">
            <a:extLst>
              <a:ext uri="{FF2B5EF4-FFF2-40B4-BE49-F238E27FC236}">
                <a16:creationId xmlns:a16="http://schemas.microsoft.com/office/drawing/2014/main" id="{D7A6E70F-216A-BB3E-BE03-5B9F82F5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5530890"/>
            <a:ext cx="3438525" cy="22925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Habits — Starting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Adopt these from your very first prompt:</a:t>
            </a:r>
          </a:p>
          <a:p>
            <a:pPr lvl="1"/>
            <a:r>
              <a:rPr b="1"/>
              <a:t> Approved accounts and data</a:t>
            </a:r>
            <a:r>
              <a:t> — sensitive work only in an approved enterprise workspace.</a:t>
            </a:r>
          </a:p>
          <a:p>
            <a:pPr lvl="1"/>
            <a:r>
              <a:rPr b="1"/>
              <a:t> Never paste confidential material into a public tool</a:t>
            </a:r>
            <a:r>
              <a:t> — sample request #2 (patient records) is exactly this trap.</a:t>
            </a:r>
          </a:p>
          <a:p>
            <a:pPr lvl="1"/>
            <a:r>
              <a:rPr b="1"/>
              <a:t> Ask for assumptions and uncertainties</a:t>
            </a:r>
            <a:r>
              <a:t> in the prompt.</a:t>
            </a:r>
          </a:p>
          <a:p>
            <a:pPr lvl="1"/>
            <a:r>
              <a:rPr b="1"/>
              <a:t> Verify facts before reuse</a:t>
            </a:r>
            <a:r>
              <a:t> — names, numbers, dates, citations.</a:t>
            </a:r>
          </a:p>
          <a:p>
            <a:pPr lvl="1"/>
            <a:r>
              <a:rPr b="1"/>
              <a:t> Keep a human in the loop</a:t>
            </a:r>
            <a:r>
              <a:t> for anything that sends, publishes, deletes, or buys.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6" name="Picture 5" descr="A life preserver on a railing&#10;&#10;AI-generated content may be incorrect.">
            <a:extLst>
              <a:ext uri="{FF2B5EF4-FFF2-40B4-BE49-F238E27FC236}">
                <a16:creationId xmlns:a16="http://schemas.microsoft.com/office/drawing/2014/main" id="{B030613A-7A90-3E8A-83DA-C068D4E03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100" y="4714610"/>
            <a:ext cx="1752600" cy="31157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Review — 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 five minutes and answer this for yourself — you'll build on it all course:</a:t>
            </a:r>
          </a:p>
          <a:p>
            <a:endParaRPr/>
          </a:p>
          <a:p>
            <a:r>
              <a:t> For each one, jot down:</a:t>
            </a:r>
          </a:p>
          <a:p>
            <a:pPr lvl="1"/>
            <a:r>
              <a:t> The</a:t>
            </a:r>
            <a:r>
              <a:rPr b="1"/>
              <a:t> task</a:t>
            </a:r>
            <a:r>
              <a:t> in one line ("summarize weekly regional sales emails into one report").</a:t>
            </a:r>
          </a:p>
          <a:p>
            <a:pPr lvl="1"/>
            <a:r>
              <a:t> Whether it's mostly</a:t>
            </a:r>
            <a:r>
              <a:rPr b="1"/>
              <a:t> language / judgment</a:t>
            </a:r>
            <a:r>
              <a:t> (good AI fit) or</a:t>
            </a:r>
            <a:r>
              <a:rPr b="1"/>
              <a:t> exact / rule-bound</a:t>
            </a:r>
            <a:r>
              <a:t> (maybe rules-based, or a combination).</a:t>
            </a:r>
          </a:p>
          <a:p>
            <a:pPr lvl="1"/>
            <a:r>
              <a:t> What a</a:t>
            </a:r>
            <a:r>
              <a:rPr b="1"/>
              <a:t> human would still need to check</a:t>
            </a:r>
            <a:r>
              <a:t> before the output is used.</a:t>
            </a:r>
          </a:p>
          <a:p>
            <a:r>
              <a:t> Keep this list. Your Module 7</a:t>
            </a:r>
            <a:r>
              <a:rPr b="1"/>
              <a:t> capstone</a:t>
            </a:r>
            <a:r>
              <a:t> will build one of these for real.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6" name="Picture 5" descr="A person and person in a room&#10;&#10;AI-generated content may be incorrect.">
            <a:extLst>
              <a:ext uri="{FF2B5EF4-FFF2-40B4-BE49-F238E27FC236}">
                <a16:creationId xmlns:a16="http://schemas.microsoft.com/office/drawing/2014/main" id="{F95A5E97-ECA3-F2B6-6B6A-9FD8EA51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5994369"/>
            <a:ext cx="2743243" cy="182905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Foundations — Cheat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Carry these out of the module:</a:t>
            </a:r>
          </a:p>
          <a:p>
            <a:pPr lvl="1"/>
            <a:r>
              <a:t> Generative AI is a</a:t>
            </a:r>
            <a:r>
              <a:rPr b="1"/>
              <a:t> pattern-completer</a:t>
            </a:r>
            <a:r>
              <a:t> , not a fact database, calculator, or decision-maker.</a:t>
            </a:r>
          </a:p>
          <a:p>
            <a:pPr lvl="1"/>
            <a:r>
              <a:t> The terms that matter:</a:t>
            </a:r>
            <a:r>
              <a:rPr b="1"/>
              <a:t> model, prompt, context, tokens, hallucination, bias, tool use, agent.</a:t>
            </a:r>
          </a:p>
          <a:p>
            <a:pPr lvl="1"/>
            <a:r>
              <a:rPr b="1"/>
              <a:t> Rules-based</a:t>
            </a:r>
            <a:r>
              <a:t> = exact, auditable, brittle.</a:t>
            </a:r>
            <a:r>
              <a:rPr b="1"/>
              <a:t> Generative AI</a:t>
            </a:r>
            <a:r>
              <a:t> = flexible, fluent, must be reviewed. They fail in</a:t>
            </a:r>
            <a:r>
              <a:rPr b="1"/>
              <a:t> opposite</a:t>
            </a:r>
            <a:r>
              <a:t> directions.</a:t>
            </a:r>
          </a:p>
          <a:p>
            <a:pPr lvl="1"/>
            <a:r>
              <a:rPr b="1"/>
              <a:t> Combine them:</a:t>
            </a:r>
            <a:r>
              <a:t> rules for the hard edges, AI for the soft middle, rules again to keep AI's output on rails.</a:t>
            </a:r>
          </a:p>
          <a:p>
            <a:pPr lvl="1"/>
            <a:r>
              <a:t> 2026 assistants are workbenches; this class uses</a:t>
            </a:r>
            <a:r>
              <a:rPr b="1"/>
              <a:t> ChatGPT Enterprise</a:t>
            </a:r>
            <a:r>
              <a:t> .</a:t>
            </a:r>
            <a:r>
              <a:rPr b="1"/>
              <a:t> Agents</a:t>
            </a:r>
            <a:r>
              <a:t> act; keep a human in the loop.</a:t>
            </a:r>
          </a:p>
          <a:p>
            <a:pPr lvl="1"/>
            <a:r>
              <a:t> AI operations = five leader questions:</a:t>
            </a:r>
            <a:r>
              <a:rPr b="1"/>
              <a:t> where it fits, what data is allowed, who reviews, how we measure, what the guardrails are.</a:t>
            </a:r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01 - AI vs. Rules-Based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Stop here and run Lab 01.</a:t>
            </a:r>
          </a:p>
          <a:p>
            <a:endParaRPr b="1"/>
          </a:p>
          <a:p>
            <a:r>
              <a:t> You will:</a:t>
            </a:r>
          </a:p>
          <a:p>
            <a:r>
              <a:t> Route the five sample support requests using a</a:t>
            </a:r>
            <a:r>
              <a:rPr b="1"/>
              <a:t> rules-based</a:t>
            </a:r>
            <a:r>
              <a:t> approach (keyword matching).</a:t>
            </a:r>
          </a:p>
          <a:p>
            <a:r>
              <a:t> Route the same five requests using an</a:t>
            </a:r>
            <a:r>
              <a:rPr b="1"/>
              <a:t> AI assistant</a:t>
            </a:r>
            <a:r>
              <a:t> that reads meaning.</a:t>
            </a:r>
          </a:p>
          <a:p>
            <a:r>
              <a:t> Compare the two, row by row, and note</a:t>
            </a:r>
            <a:r>
              <a:rPr b="1"/>
              <a:t> where each approach wins</a:t>
            </a:r>
            <a:r>
              <a:t> .</a:t>
            </a:r>
          </a:p>
          <a:p>
            <a:r>
              <a:t> Decide, for this task, how you'd</a:t>
            </a:r>
            <a:r>
              <a:rPr b="1"/>
              <a:t> combine</a:t>
            </a:r>
            <a:r>
              <a:t> them into one safe workflow.</a:t>
            </a:r>
          </a:p>
          <a:p>
            <a:r>
              <a:rPr b="1"/>
              <a:t> Deliverable:</a:t>
            </a:r>
            <a:r>
              <a:t> both sets of routing results, a short comparison naming where rules won and where AI won, and one or two sentences on how you'd combine them.</a:t>
            </a:r>
          </a:p>
          <a:p>
            <a:r>
              <a:rPr b="1"/>
              <a:t> Time:</a:t>
            </a:r>
            <a:r>
              <a:t> ~45-60 min.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378326</TotalTime>
  <Words>2769</Words>
  <Application>Microsoft Macintosh PowerPoint</Application>
  <PresentationFormat>Custom</PresentationFormat>
  <Paragraphs>218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Foundations of Generative AI in Business</vt:lpstr>
      <vt:lpstr>Why This Module</vt:lpstr>
      <vt:lpstr>What Generative AI Is</vt:lpstr>
      <vt:lpstr>What Generative AI Is </vt:lpstr>
      <vt:lpstr>How a Language Model Works, in Plain Language</vt:lpstr>
      <vt:lpstr>Key Terms — Without the Jargon (1 of 2)</vt:lpstr>
      <vt:lpstr>Key Terms — Without the Jargon (2 of 2)</vt:lpstr>
      <vt:lpstr>Multimodal AI — Beyond Text</vt:lpstr>
      <vt:lpstr>The Other Half — Rules-Based Automation</vt:lpstr>
      <vt:lpstr>Generative AI vs. Rules-Based Automation</vt:lpstr>
      <vt:lpstr>Worked Example — The Same Task, Two Ways</vt:lpstr>
      <vt:lpstr>What Happens on the Real Rows</vt:lpstr>
      <vt:lpstr>Why You Combine Them</vt:lpstr>
      <vt:lpstr>The 2026 Landscape — Assistants As Workbenches</vt:lpstr>
      <vt:lpstr>The Rise of AI Agents</vt:lpstr>
      <vt:lpstr>Common Myths — In Both Directions</vt:lpstr>
      <vt:lpstr>What AI Is Genuinely Good At</vt:lpstr>
      <vt:lpstr>What AI Is Weak At — and Needs Review</vt:lpstr>
      <vt:lpstr>Intro to AI Operations for Business Leaders</vt:lpstr>
      <vt:lpstr>Safety Habits — Starting Today</vt:lpstr>
      <vt:lpstr>Module Review — Your Turn</vt:lpstr>
      <vt:lpstr>Foundations — Cheat Sheet</vt:lpstr>
      <vt:lpstr>Lab 01 - AI vs. Rules-Based Routing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4139</cp:revision>
  <cp:lastPrinted>2010-01-03T02:41:41Z</cp:lastPrinted>
  <dcterms:created xsi:type="dcterms:W3CDTF">2010-07-13T15:22:01Z</dcterms:created>
  <dcterms:modified xsi:type="dcterms:W3CDTF">2026-08-30T20:47:13Z</dcterms:modified>
</cp:coreProperties>
</file>