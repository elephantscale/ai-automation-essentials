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000" b="1" i="0">
                <a:latin typeface="Times New Roman"/>
              </a:rPr>
              <a:t>Responsible AI, Enterprise Governance &amp; Connector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Real data</a:t>
            </a:r>
          </a:p>
          <a:p>
            <a:r>
              <a:t> Real consequences</a:t>
            </a:r>
          </a:p>
          <a:p>
            <a:r>
              <a:t> Privacy risk</a:t>
            </a:r>
          </a:p>
          <a:p>
            <a:r>
              <a:t> Bias risk</a:t>
            </a:r>
          </a:p>
          <a:p>
            <a:r>
              <a:t> Security risk</a:t>
            </a:r>
          </a:p>
          <a:p>
            <a:r>
              <a:t> Governance habits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question is not only "can AI do this?" It is "should it, and under what controls?"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Is a Design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Tool choice</a:t>
            </a:r>
          </a:p>
          <a:p>
            <a:r>
              <a:t> Data rules</a:t>
            </a:r>
          </a:p>
          <a:p>
            <a:r>
              <a:t> Human review</a:t>
            </a:r>
          </a:p>
          <a:p>
            <a:r>
              <a:t> Access control</a:t>
            </a:r>
          </a:p>
          <a:p>
            <a:r>
              <a:t> Logging</a:t>
            </a:r>
          </a:p>
          <a:p>
            <a:r>
              <a:t> Ownership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7" y="4203389"/>
            <a:ext cx="9303513" cy="5072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01057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Good governance is built into the workflow, not stapled on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&amp; Fairness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Gender</a:t>
            </a:r>
          </a:p>
          <a:p>
            <a:r>
              <a:t> Race</a:t>
            </a:r>
          </a:p>
          <a:p>
            <a:r>
              <a:t> Age</a:t>
            </a:r>
          </a:p>
          <a:p>
            <a:r>
              <a:t> Region</a:t>
            </a:r>
          </a:p>
          <a:p>
            <a:r>
              <a:t> Disability</a:t>
            </a:r>
          </a:p>
          <a:p>
            <a:r>
              <a:t> Name</a:t>
            </a:r>
          </a:p>
          <a:p>
            <a:r>
              <a:t> School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If output changes what happens to a person, fairness is a requirement.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Bias Matters Most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Resume screening</a:t>
            </a:r>
          </a:p>
          <a:p>
            <a:r>
              <a:t> Candidate ranking</a:t>
            </a:r>
          </a:p>
          <a:p>
            <a:r>
              <a:t> Credit or eligibility</a:t>
            </a:r>
          </a:p>
          <a:p>
            <a:r>
              <a:t> Performance reviews</a:t>
            </a:r>
          </a:p>
          <a:p>
            <a:r>
              <a:t> Promotions</a:t>
            </a:r>
          </a:p>
          <a:p>
            <a:r>
              <a:t> Customer prioritization</a:t>
            </a:r>
          </a:p>
          <a:p>
            <a:r>
              <a:t> Quality scoring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AI can support people-related decisions. It should not make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Bias Sneaks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Training data</a:t>
            </a:r>
          </a:p>
          <a:p>
            <a:r>
              <a:t> Prompt wording</a:t>
            </a:r>
          </a:p>
          <a:p>
            <a:r>
              <a:t> Source data</a:t>
            </a:r>
          </a:p>
          <a:p>
            <a:r>
              <a:t> Proxy variables</a:t>
            </a:r>
          </a:p>
          <a:p>
            <a:r>
              <a:t> Vague criteria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38" y="3802569"/>
            <a:ext cx="9405938" cy="7400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Fairness is tested in the output, not assumed from the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— Biased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Past hires become training signal</a:t>
            </a:r>
          </a:p>
          <a:p>
            <a:r>
              <a:t> Historical skew looks normal</a:t>
            </a:r>
          </a:p>
          <a:p>
            <a:r>
              <a:t> Proxies carry the bias</a:t>
            </a:r>
          </a:p>
          <a:p>
            <a:r>
              <a:t> Rankings reproduce the past</a:t>
            </a:r>
          </a:p>
          <a:p>
            <a:r>
              <a:t> Review catches the failure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163" y="3659083"/>
            <a:ext cx="93980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37728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 biased past can become an automated future.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Do not ask AI to decide</a:t>
            </a:r>
          </a:p>
          <a:p>
            <a:r>
              <a:t> Strip proxies where possible</a:t>
            </a:r>
          </a:p>
          <a:p>
            <a:r>
              <a:t> Use job-relevant criteria</a:t>
            </a:r>
          </a:p>
          <a:p>
            <a:r>
              <a:t> Require evidence</a:t>
            </a:r>
          </a:p>
          <a:p>
            <a:r>
              <a:t> Test swapped identities</a:t>
            </a:r>
          </a:p>
          <a:p>
            <a:r>
              <a:t> Keep a human accountable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7193837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Replace vague judgment with stated criteria.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Biased Prompt → Mitigated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4862"/>
            <a:ext cx="8915400" cy="197385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09999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"Culture fit" is not a rubric.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&amp; Confidentiality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Public</a:t>
            </a:r>
          </a:p>
          <a:p>
            <a:r>
              <a:t> Internal</a:t>
            </a:r>
          </a:p>
          <a:p>
            <a:r>
              <a:t> Confidential</a:t>
            </a:r>
          </a:p>
          <a:p>
            <a:r>
              <a:t> Regulated / personal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12" y="3418555"/>
            <a:ext cx="8483600" cy="132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302887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Classify the data before you paste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Never Goes Into a Chat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Passwords</a:t>
            </a:r>
          </a:p>
          <a:p>
            <a:r>
              <a:t> API keys</a:t>
            </a:r>
          </a:p>
          <a:p>
            <a:r>
              <a:t> Access tokens</a:t>
            </a:r>
          </a:p>
          <a:p>
            <a:r>
              <a:t> Payment numbers</a:t>
            </a:r>
          </a:p>
          <a:p>
            <a:r>
              <a:t> Health records</a:t>
            </a:r>
          </a:p>
          <a:p>
            <a:r>
              <a:t> Government IDs</a:t>
            </a:r>
          </a:p>
          <a:p>
            <a:r>
              <a:t> Privileged legal material</a:t>
            </a:r>
          </a:p>
          <a:p>
            <a:r>
              <a:t> Unreleased financials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137" y="737728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When in doubt, redact or ask.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Redact, Don't Abstain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Remove identifiers</a:t>
            </a:r>
          </a:p>
          <a:p>
            <a:r>
              <a:t> Use placeholders</a:t>
            </a:r>
          </a:p>
          <a:p>
            <a:r>
              <a:t> Keep the business context</a:t>
            </a:r>
          </a:p>
          <a:p>
            <a:r>
              <a:t> Reinsert details manually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3378189"/>
            <a:ext cx="8915400" cy="13446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40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model does not need the secret to write the sentence.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Shadow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Unapproved tools</a:t>
            </a:r>
          </a:p>
          <a:p>
            <a:r>
              <a:t> Personal chatbots</a:t>
            </a:r>
          </a:p>
          <a:p>
            <a:r>
              <a:t> Browser extensions</a:t>
            </a:r>
          </a:p>
          <a:p>
            <a:r>
              <a:t> Free summarizers</a:t>
            </a:r>
          </a:p>
          <a:p>
            <a:r>
              <a:t> No logging</a:t>
            </a:r>
          </a:p>
          <a:p>
            <a:r>
              <a:t> No contract</a:t>
            </a:r>
          </a:p>
          <a:p>
            <a:r>
              <a:t> No audit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710701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Shadow AI is a signal that the approved path is missing or too hard.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1 — 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Hidden instructions</a:t>
            </a:r>
          </a:p>
          <a:p>
            <a:r>
              <a:t> Untrusted content</a:t>
            </a:r>
          </a:p>
          <a:p>
            <a:r>
              <a:t> Role changes</a:t>
            </a:r>
          </a:p>
          <a:p>
            <a:r>
              <a:t> Output changes</a:t>
            </a:r>
          </a:p>
          <a:p>
            <a:r>
              <a:t> Tool misuse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659083"/>
            <a:ext cx="7801995" cy="15566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37728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more an AI can act, the more injection matters.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Defending Against 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Fence the data</a:t>
            </a:r>
          </a:p>
          <a:p>
            <a:r>
              <a:t> Label it untrusted</a:t>
            </a:r>
          </a:p>
          <a:p>
            <a:r>
              <a:t> Separate instructions from content</a:t>
            </a:r>
          </a:p>
          <a:p>
            <a:r>
              <a:t> Use least privilege</a:t>
            </a:r>
          </a:p>
          <a:p>
            <a:r>
              <a:t> Add a human gate</a:t>
            </a:r>
          </a:p>
          <a:p>
            <a:r>
              <a:t> Treat AI output as untrusted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4148931"/>
            <a:ext cx="8915400" cy="13282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9006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An instruction the AI cannot act on cannot do much damage.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2 — Data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Personal accounts</a:t>
            </a:r>
          </a:p>
          <a:p>
            <a:r>
              <a:t> Overbroad automations</a:t>
            </a:r>
          </a:p>
          <a:p>
            <a:r>
              <a:t> Unsafe logs</a:t>
            </a:r>
          </a:p>
          <a:p>
            <a:r>
              <a:t> Shared assistants</a:t>
            </a:r>
          </a:p>
          <a:p>
            <a:r>
              <a:t> Output with PII</a:t>
            </a:r>
          </a:p>
          <a:p>
            <a:r>
              <a:t> Third-party tools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01330"/>
            <a:ext cx="4838700" cy="14628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Most leaks are plumbing problems.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3 — Untrusted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Web pages</a:t>
            </a:r>
          </a:p>
          <a:p>
            <a:r>
              <a:t> Emails</a:t>
            </a:r>
          </a:p>
          <a:p>
            <a:r>
              <a:t> Tickets</a:t>
            </a:r>
          </a:p>
          <a:p>
            <a:r>
              <a:t> Resumes</a:t>
            </a:r>
          </a:p>
          <a:p>
            <a:r>
              <a:t> PDFs</a:t>
            </a:r>
          </a:p>
          <a:p>
            <a:r>
              <a:t> Third-party API results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13" y="4085947"/>
            <a:ext cx="6045200" cy="78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12010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Outside content is useful, but it is not authoritative by default.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High-stakes people decisions</a:t>
            </a:r>
          </a:p>
          <a:p>
            <a:r>
              <a:t> Irreversible actions</a:t>
            </a:r>
          </a:p>
          <a:p>
            <a:r>
              <a:t> Dangerous mistakes</a:t>
            </a:r>
          </a:p>
          <a:p>
            <a:r>
              <a:t> Unverifiable output</a:t>
            </a:r>
          </a:p>
          <a:p>
            <a:r>
              <a:t> Too-sensitive data</a:t>
            </a:r>
          </a:p>
          <a:p>
            <a:r>
              <a:t> Contract or regulation forbids it</a:t>
            </a:r>
          </a:p>
          <a:p>
            <a:r>
              <a:t> Simple rule would be better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038" y="7093825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Ask what happens when it is wrong.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Human Oversight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Named reviewer</a:t>
            </a:r>
          </a:p>
          <a:p>
            <a:r>
              <a:t> Real authority to stop</a:t>
            </a:r>
          </a:p>
          <a:p>
            <a:r>
              <a:t> Time to review</a:t>
            </a:r>
          </a:p>
          <a:p>
            <a:r>
              <a:t> Evidence visible</a:t>
            </a:r>
          </a:p>
          <a:p>
            <a:r>
              <a:t> Approval before action</a:t>
            </a:r>
          </a:p>
          <a:p>
            <a:r>
              <a:t> Accountability after action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705651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rubber stamp is not oversight.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EU AI Act</a:t>
            </a:r>
          </a:p>
          <a:p>
            <a:r>
              <a:t> NIST AI RMF</a:t>
            </a:r>
          </a:p>
          <a:p>
            <a:r>
              <a:t> Vendor requirements</a:t>
            </a:r>
          </a:p>
          <a:p>
            <a:r>
              <a:t> Customer expectations</a:t>
            </a:r>
          </a:p>
          <a:p>
            <a:r>
              <a:t> Internal policy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62" y="3844131"/>
            <a:ext cx="6807200" cy="78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Regulations turn good AI habits into expected practice.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 AI Act — Risk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 Risk depends on the use</a:t>
            </a:r>
          </a:p>
          <a:p>
            <a:r>
              <a:rPr dirty="0"/>
              <a:t> Higher risk means stronger controls</a:t>
            </a:r>
          </a:p>
          <a:p>
            <a:r>
              <a:rPr dirty="0"/>
              <a:t> People decisions deserve special care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1405731"/>
            <a:ext cx="8915400" cy="9578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Most course workflows are minimal or limited risk.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 AI Act — Practical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 transparent when needed</a:t>
            </a:r>
          </a:p>
          <a:p>
            <a:r>
              <a:t> Do not build banned uses</a:t>
            </a:r>
          </a:p>
          <a:p>
            <a:r>
              <a:t> Escalate high-risk uses</a:t>
            </a:r>
          </a:p>
          <a:p>
            <a:r>
              <a:t> Expect documentation</a:t>
            </a:r>
          </a:p>
          <a:p>
            <a:r>
              <a:t> Expect logging</a:t>
            </a:r>
          </a:p>
          <a:p>
            <a:r>
              <a:t> Expect human oversight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higher the tier, the more record-keeping and oversight.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NIST AI RMF — Four Verbs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1253331"/>
            <a:ext cx="7874000" cy="132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6301" y="7247766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Govern, map, measure, manage is the risk loop.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NIST AI RMF — Practical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Who owns it?</a:t>
            </a:r>
          </a:p>
          <a:p>
            <a:r>
              <a:t> What could go wrong?</a:t>
            </a:r>
          </a:p>
          <a:p>
            <a:r>
              <a:t> How will we test?</a:t>
            </a:r>
          </a:p>
          <a:p>
            <a:r>
              <a:t> What control contains the risk?</a:t>
            </a:r>
          </a:p>
          <a:p>
            <a:r>
              <a:t> What happens when it fails?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EU AI Act says how careful. NIST RMF says how to be careful.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AI-Use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Approved tools</a:t>
            </a:r>
          </a:p>
          <a:p>
            <a:r>
              <a:t> Data rules</a:t>
            </a:r>
          </a:p>
          <a:p>
            <a:r>
              <a:t> Human review</a:t>
            </a:r>
          </a:p>
          <a:p>
            <a:r>
              <a:t> Verification</a:t>
            </a:r>
          </a:p>
          <a:p>
            <a:r>
              <a:t> Accountability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6807200" cy="158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398678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Good policy makes the safe way the easy way.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Project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Files inside</a:t>
            </a:r>
          </a:p>
          <a:p>
            <a:r>
              <a:t> Data sensitivity</a:t>
            </a:r>
          </a:p>
          <a:p>
            <a:r>
              <a:t> Sharing settings</a:t>
            </a:r>
          </a:p>
          <a:p>
            <a:r>
              <a:t> Output visibility</a:t>
            </a:r>
          </a:p>
          <a:p>
            <a:r>
              <a:t> Retention</a:t>
            </a:r>
          </a:p>
          <a:p>
            <a:r>
              <a:t> Safe instructions</a:t>
            </a:r>
          </a:p>
          <a:p>
            <a:r>
              <a:t> Deletion or redaction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398678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Enterprise access is a control, not a permission slip.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Connector Readiness Is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Read-only or write-back</a:t>
            </a:r>
          </a:p>
          <a:p>
            <a:r>
              <a:t> Fields needed</a:t>
            </a:r>
          </a:p>
          <a:p>
            <a:r>
              <a:t> Least privilege</a:t>
            </a:r>
          </a:p>
          <a:p>
            <a:r>
              <a:t> Review before action</a:t>
            </a:r>
          </a:p>
          <a:p>
            <a:r>
              <a:t> Safe logging</a:t>
            </a:r>
          </a:p>
          <a:p>
            <a:r>
              <a:t> Admin approval</a:t>
            </a:r>
          </a:p>
          <a:p>
            <a:r>
              <a:t> Checklist:</a:t>
            </a:r>
            <a:r>
              <a:rPr>
                <a:latin typeface="Courier New"/>
              </a:rPr>
              <a:t> course-materials/connector-readiness-checklist.md</a:t>
            </a:r>
          </a:p>
          <a:p>
            <a:endParaRPr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398678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permissions and review paths are unclear, the connector is not ready.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Use —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Classify data before use</a:t>
            </a:r>
          </a:p>
          <a:p>
            <a:r>
              <a:t> Redact sensitive details</a:t>
            </a:r>
          </a:p>
          <a:p>
            <a:r>
              <a:t> Fence untrusted content</a:t>
            </a:r>
          </a:p>
          <a:p>
            <a:r>
              <a:t> Test people-related outputs for bias</a:t>
            </a:r>
          </a:p>
          <a:p>
            <a:r>
              <a:t> Keep consequential decisions human</a:t>
            </a:r>
          </a:p>
          <a:p>
            <a:r>
              <a:t> Use approved tools</a:t>
            </a:r>
          </a:p>
          <a:p>
            <a:r>
              <a:t> Log and review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398678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Responsible AI is a set of habits, not a slogan.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06 - Responsible AI, Enterprise Governance &amp; Connector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06.</a:t>
            </a:r>
          </a:p>
          <a:p>
            <a:r>
              <a:t> You will:</a:t>
            </a:r>
          </a:p>
          <a:p>
            <a:r>
              <a:t> Rewrite a flawed hiring-screen prompt with bias guardrails.</a:t>
            </a:r>
          </a:p>
          <a:p>
            <a:r>
              <a:t> Redesign a data-leaky automation.</a:t>
            </a:r>
          </a:p>
          <a:p>
            <a:r>
              <a:t> Audit your ChatGPT Enterprise project and files.</a:t>
            </a:r>
          </a:p>
          <a:p>
            <a:r>
              <a:t> Complete a connector-readiness assessment.</a:t>
            </a:r>
          </a:p>
          <a:p>
            <a:r>
              <a:t> Draft first principles of an AI-use policy.</a:t>
            </a:r>
          </a:p>
          <a:p>
            <a:r>
              <a:rPr b="1"/>
              <a:t> Deliverable:</a:t>
            </a:r>
            <a:r>
              <a:t> fixed prompt, redesigned workflow, project/file audit, connector-readiness recommendation, and one-page draft AI-use policy.</a:t>
            </a:r>
          </a:p>
          <a:p>
            <a:r>
              <a:rPr b="1"/>
              <a:t> Time:</a:t>
            </a:r>
            <a:r>
              <a:t> ~45-60 min.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378297</TotalTime>
  <Words>1329</Words>
  <Application>Microsoft Macintosh PowerPoint</Application>
  <PresentationFormat>Custom</PresentationFormat>
  <Paragraphs>257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Responsible AI, Enterprise Governance &amp; Connector Readiness</vt:lpstr>
      <vt:lpstr>Why This Module</vt:lpstr>
      <vt:lpstr>Governance Is a Design Skill</vt:lpstr>
      <vt:lpstr>Bias &amp; Fairness</vt:lpstr>
      <vt:lpstr>Where Bias Matters Most</vt:lpstr>
      <vt:lpstr>How Bias Sneaks In</vt:lpstr>
      <vt:lpstr>Case Study — Biased Screening</vt:lpstr>
      <vt:lpstr>Bias Mitigation</vt:lpstr>
      <vt:lpstr>Biased Prompt → Mitigated Prompt</vt:lpstr>
      <vt:lpstr>Privacy &amp; Confidentiality</vt:lpstr>
      <vt:lpstr>What Never Goes Into a Chat Box</vt:lpstr>
      <vt:lpstr>Redact, Don't Abstain</vt:lpstr>
      <vt:lpstr>Shadow AI</vt:lpstr>
      <vt:lpstr>Threat 1 — Prompt Injection</vt:lpstr>
      <vt:lpstr>Defending Against Prompt Injection</vt:lpstr>
      <vt:lpstr>Threat 2 — Data Leakage</vt:lpstr>
      <vt:lpstr>Threat 3 — Untrusted Content</vt:lpstr>
      <vt:lpstr>When NOT to Use AI</vt:lpstr>
      <vt:lpstr>Required Human Oversight</vt:lpstr>
      <vt:lpstr>Regulatory Landscape</vt:lpstr>
      <vt:lpstr>EU AI Act — Risk Tiers</vt:lpstr>
      <vt:lpstr>EU AI Act — Practical Takeaway</vt:lpstr>
      <vt:lpstr>NIST AI RMF — Four Verbs</vt:lpstr>
      <vt:lpstr>NIST AI RMF — Practical Takeaway</vt:lpstr>
      <vt:lpstr>AI-Use Policy</vt:lpstr>
      <vt:lpstr>Enterprise Project Governance</vt:lpstr>
      <vt:lpstr>Connector Readiness Is Governance</vt:lpstr>
      <vt:lpstr>Responsible Use — Cheat Sheet</vt:lpstr>
      <vt:lpstr>Lab 06 - Responsible AI, Enterprise Governance &amp; Connector Readiness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2026-09-02T02:14:10Z</dcterms:modified>
</cp:coreProperties>
</file>