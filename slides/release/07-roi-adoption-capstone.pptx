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ROI, Adoption &amp; Enterprise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Cost</a:t>
            </a:r>
          </a:p>
          <a:p>
            <a:r>
              <a:t> Impact</a:t>
            </a:r>
          </a:p>
          <a:p>
            <a:r>
              <a:t> Adoption</a:t>
            </a:r>
          </a:p>
          <a:p>
            <a:r>
              <a:t> Capstone</a:t>
            </a:r>
          </a:p>
          <a:p>
            <a:r>
              <a:t> 30-day plan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613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useful AI workflow needs a number and a rollout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Cost</a:t>
            </a:r>
          </a:p>
          <a:p>
            <a:r>
              <a:t> Impact</a:t>
            </a:r>
          </a:p>
          <a:p>
            <a:r>
              <a:t> Adoption</a:t>
            </a:r>
          </a:p>
          <a:p>
            <a:r>
              <a:t> Capstone build</a:t>
            </a:r>
          </a:p>
          <a:p>
            <a:r>
              <a:t> Presentation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0338"/>
            <a:ext cx="9372600" cy="4803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667589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"What does it cost?" and "will the team use it?" are business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AI Actually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Tool cost</a:t>
            </a:r>
          </a:p>
          <a:p>
            <a:r>
              <a:t> Build time</a:t>
            </a:r>
          </a:p>
          <a:p>
            <a:r>
              <a:t> Review time</a:t>
            </a:r>
          </a:p>
          <a:p>
            <a:r>
              <a:t> Maintenance</a:t>
            </a:r>
          </a:p>
          <a:p>
            <a:r>
              <a:t> Future connector cost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invoice is not the whole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Pricing Shapes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Subscription</a:t>
            </a:r>
          </a:p>
          <a:p>
            <a:r>
              <a:t> Per-seat</a:t>
            </a:r>
          </a:p>
          <a:p>
            <a:r>
              <a:t> Usage-based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076523"/>
            <a:ext cx="72644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7227034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Most real deployments mix pricing shapes.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Estimate Usage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Find the unit</a:t>
            </a:r>
          </a:p>
          <a:p>
            <a:r>
              <a:t> Estimate volume</a:t>
            </a:r>
          </a:p>
          <a:p>
            <a:r>
              <a:t> Multiply</a:t>
            </a:r>
          </a:p>
          <a:p>
            <a:r>
              <a:t> Add retry padding</a:t>
            </a:r>
          </a:p>
          <a:p>
            <a:r>
              <a:t> Set a cap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63131"/>
            <a:ext cx="8807608" cy="9751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3050" y="7175422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cap turns "unbounded" into "at most this much."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Build time</a:t>
            </a:r>
          </a:p>
          <a:p>
            <a:r>
              <a:t> Review time</a:t>
            </a:r>
          </a:p>
          <a:p>
            <a:r>
              <a:t> Maintenance</a:t>
            </a:r>
          </a:p>
          <a:p>
            <a:r>
              <a:t> Prompt updates</a:t>
            </a:r>
          </a:p>
          <a:p>
            <a:r>
              <a:t> Data updates</a:t>
            </a:r>
          </a:p>
          <a:p>
            <a:r>
              <a:t> Ownership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2973"/>
            <a:ext cx="8904918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Leave out human time and the ROI is fake.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Cost — Support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737"/>
            <a:ext cx="9170542" cy="28185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25252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Count each cost once.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Time saved</a:t>
            </a:r>
          </a:p>
          <a:p>
            <a:r>
              <a:t> Error reduction</a:t>
            </a:r>
          </a:p>
          <a:p>
            <a:r>
              <a:t> Rework reduction</a:t>
            </a:r>
          </a:p>
          <a:p>
            <a:r>
              <a:t> Cycle-time improvement</a:t>
            </a:r>
          </a:p>
          <a:p>
            <a:r>
              <a:t> ROI</a:t>
            </a:r>
          </a:p>
          <a:p>
            <a:r>
              <a:t> Payback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58762" y="7108906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Pick the metric your manager already cares about.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Measure the old way</a:t>
            </a:r>
          </a:p>
          <a:p>
            <a:r>
              <a:t> Measure the new way</a:t>
            </a:r>
          </a:p>
          <a:p>
            <a:r>
              <a:t> Include review time</a:t>
            </a:r>
          </a:p>
          <a:p>
            <a:r>
              <a:t> Count rework</a:t>
            </a:r>
          </a:p>
          <a:p>
            <a:r>
              <a:t> Use real volume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451897"/>
            <a:ext cx="7727950" cy="12240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261895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Without a baseline, "saves time" is only an anecdote.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 case</a:t>
            </a:r>
          </a:p>
          <a:p>
            <a:r>
              <a:t> Time saved</a:t>
            </a:r>
          </a:p>
          <a:p>
            <a:r>
              <a:t> Error reduction</a:t>
            </a:r>
          </a:p>
          <a:p>
            <a:r>
              <a:t> Costs</a:t>
            </a:r>
          </a:p>
          <a:p>
            <a:r>
              <a:t> Bottom line</a:t>
            </a:r>
          </a:p>
          <a:p>
            <a:r>
              <a:t> Honest risk</a:t>
            </a:r>
          </a:p>
          <a:p>
            <a:r>
              <a:t> Worksheet:</a:t>
            </a:r>
            <a:r>
              <a:rPr>
                <a:latin typeface="Courier New"/>
              </a:rPr>
              <a:t> course-materials/roi-worksheet.md</a:t>
            </a:r>
          </a:p>
          <a:p>
            <a:endParaRPr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Conservative numbers are more useful than impressive 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ROI — Time Saved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503"/>
            <a:ext cx="9372600" cy="19863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27986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Frequent and boring is where the money 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ROI — Error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260519"/>
            <a:ext cx="8636000" cy="158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8287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Only claim error savings you can defend.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ROI — Bottom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093200" cy="1854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4000" y="727034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Payback is often the clearest number for a skeptic.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 the Number Honestly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State one weak assumption</a:t>
            </a:r>
          </a:p>
          <a:p>
            <a:r>
              <a:t> Round savings down</a:t>
            </a:r>
          </a:p>
          <a:p>
            <a:r>
              <a:t> Round costs up</a:t>
            </a:r>
          </a:p>
          <a:p>
            <a:r>
              <a:t> Separate hard and soft benefits</a:t>
            </a:r>
          </a:p>
          <a:p>
            <a:r>
              <a:t> Stress-test the result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4117816"/>
            <a:ext cx="9093200" cy="520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caveat makes the number more credible.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Tools can be abandoned</a:t>
            </a:r>
          </a:p>
          <a:p>
            <a:r>
              <a:t> Big launches can backfire</a:t>
            </a:r>
          </a:p>
          <a:p>
            <a:r>
              <a:t> Teams need ownership</a:t>
            </a:r>
          </a:p>
          <a:p>
            <a:r>
              <a:t> Workflows need support</a:t>
            </a:r>
          </a:p>
          <a:p>
            <a:r>
              <a:t> ROI depends on use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27157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A working automation nobody adopts saves zero hours.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→ Standardize →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Pilot one workflow</a:t>
            </a:r>
          </a:p>
          <a:p>
            <a:r>
              <a:rPr dirty="0"/>
              <a:t> Standardize what works</a:t>
            </a:r>
          </a:p>
          <a:p>
            <a:r>
              <a:rPr dirty="0"/>
              <a:t> Scale only the proven version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" y="1405731"/>
            <a:ext cx="8855808" cy="1244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252529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Do not scale what you have not standardized.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Frame as leverage</a:t>
            </a:r>
          </a:p>
          <a:p>
            <a:r>
              <a:t> Name the boring task removed</a:t>
            </a:r>
          </a:p>
          <a:p>
            <a:r>
              <a:t> Find champions</a:t>
            </a:r>
          </a:p>
          <a:p>
            <a:r>
              <a:t> Set honest expectations</a:t>
            </a:r>
          </a:p>
          <a:p>
            <a:r>
              <a:t> Share prompts that work</a:t>
            </a:r>
          </a:p>
          <a:p>
            <a:r>
              <a:t> Make help normal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7093825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People need control, context, and a visible win.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real workflow</a:t>
            </a:r>
          </a:p>
          <a:p>
            <a:r>
              <a:t> Safe sample data</a:t>
            </a:r>
          </a:p>
          <a:p>
            <a:r>
              <a:t> Human approval step</a:t>
            </a:r>
          </a:p>
          <a:p>
            <a:r>
              <a:t> Connector-readiness note</a:t>
            </a:r>
          </a:p>
          <a:p>
            <a:r>
              <a:t> Governance note</a:t>
            </a:r>
          </a:p>
          <a:p>
            <a:r>
              <a:t> ROI estimate</a:t>
            </a:r>
          </a:p>
          <a:p>
            <a:r>
              <a:t> 30-day plan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454785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Narrow and real beats broad and impressive.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Building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Enterprise project or project-style chat</a:t>
            </a:r>
          </a:p>
          <a:p>
            <a:r>
              <a:t> Structured prompt</a:t>
            </a:r>
          </a:p>
          <a:p>
            <a:r>
              <a:t> Prompt chain</a:t>
            </a:r>
          </a:p>
          <a:p>
            <a:r>
              <a:t> Document or data analysis</a:t>
            </a:r>
          </a:p>
          <a:p>
            <a:r>
              <a:t> Simulated workflow</a:t>
            </a:r>
          </a:p>
          <a:p>
            <a:r>
              <a:t> Review queue</a:t>
            </a:r>
          </a:p>
          <a:p>
            <a:r>
              <a:t> Guardrails</a:t>
            </a:r>
          </a:p>
          <a:p>
            <a:r>
              <a:t> Connector readiness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228716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Use the pieces your workflow actually needs.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Capstone — Support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6" y="1329531"/>
            <a:ext cx="9058834" cy="23937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697020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AI routes and drafts. The human owns the send button.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Triage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8" y="1163365"/>
            <a:ext cx="9386888" cy="22010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093825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Structured output lets the workflow route.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Input: Northstar asks about patient records in a public AI tool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92224"/>
            <a:ext cx="9347455" cy="15185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302887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flag routes the case to a human.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Design Canvas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Canvas:</a:t>
            </a:r>
            <a:r>
              <a:rPr dirty="0">
                <a:latin typeface="Courier New"/>
              </a:rPr>
              <a:t> course-materials/automation-design-</a:t>
            </a:r>
            <a:r>
              <a:rPr dirty="0" err="1">
                <a:latin typeface="Courier New"/>
              </a:rPr>
              <a:t>canvas.md</a:t>
            </a:r>
            <a:endParaRPr dirty="0">
              <a:latin typeface="Courier New"/>
            </a:endParaRPr>
          </a:p>
          <a:p>
            <a:endParaRPr dirty="0"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077132"/>
            <a:ext cx="4425188" cy="391099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694455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If you cannot name human review and risk control, the workflow is not ready.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Business fit</a:t>
            </a:r>
          </a:p>
          <a:p>
            <a:r>
              <a:t> Prompt quality</a:t>
            </a:r>
          </a:p>
          <a:p>
            <a:r>
              <a:t> Enterprise setup</a:t>
            </a:r>
          </a:p>
          <a:p>
            <a:r>
              <a:t> Artifact quality</a:t>
            </a:r>
          </a:p>
          <a:p>
            <a:r>
              <a:t> Safety controls</a:t>
            </a:r>
          </a:p>
          <a:p>
            <a:r>
              <a:t> Connector readiness</a:t>
            </a:r>
          </a:p>
          <a:p>
            <a:r>
              <a:t> Rollout plan</a:t>
            </a:r>
          </a:p>
          <a:p>
            <a:r>
              <a:t> Rubric:</a:t>
            </a:r>
            <a:r>
              <a:rPr>
                <a:latin typeface="Courier New"/>
              </a:rPr>
              <a:t> course-materials/capstone-rubric.md</a:t>
            </a:r>
          </a:p>
          <a:p>
            <a:endParaRPr>
              <a:latin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Most weak capstones fail on safety controls or rollout plan.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 It in Five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Problem</a:t>
            </a:r>
          </a:p>
          <a:p>
            <a:r>
              <a:t> Workflow</a:t>
            </a:r>
          </a:p>
          <a:p>
            <a:r>
              <a:t> Project and files</a:t>
            </a:r>
          </a:p>
          <a:p>
            <a:r>
              <a:t> Demo</a:t>
            </a:r>
          </a:p>
          <a:p>
            <a:r>
              <a:t> Controls</a:t>
            </a:r>
          </a:p>
          <a:p>
            <a:r>
              <a:t> Connector recommendation</a:t>
            </a:r>
          </a:p>
          <a:p>
            <a:r>
              <a:t> ROI</a:t>
            </a:r>
          </a:p>
          <a:p>
            <a:r>
              <a:t> 30-day plan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84029"/>
            <a:ext cx="9372600" cy="4952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4475" y="7256498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Lead with the problem, not the tool.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30-Day AI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1727488"/>
            <a:ext cx="9401175" cy="10912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093825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Week 1's baseline makes Week 4's ROI believable.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Capstone Traps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Too broad</a:t>
            </a:r>
          </a:p>
          <a:p>
            <a:r>
              <a:t> No human gate</a:t>
            </a:r>
          </a:p>
          <a:p>
            <a:r>
              <a:t> No project setup</a:t>
            </a:r>
          </a:p>
          <a:p>
            <a:r>
              <a:t> No baseline</a:t>
            </a:r>
          </a:p>
          <a:p>
            <a:r>
              <a:t> Fake ROI</a:t>
            </a:r>
          </a:p>
          <a:p>
            <a:r>
              <a:t> Sensitive data in demo</a:t>
            </a:r>
          </a:p>
          <a:p>
            <a:r>
              <a:t> Connector overreach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104143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Every trap is fixable if caught before the build.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Working workflow</a:t>
            </a:r>
          </a:p>
          <a:p>
            <a:r>
              <a:t> Human gate</a:t>
            </a:r>
          </a:p>
          <a:p>
            <a:r>
              <a:t> Tested edge case</a:t>
            </a:r>
          </a:p>
          <a:p>
            <a:r>
              <a:t> ROI worksheet</a:t>
            </a:r>
          </a:p>
          <a:p>
            <a:r>
              <a:t> Connector-readiness recommendation</a:t>
            </a:r>
          </a:p>
          <a:p>
            <a:r>
              <a:t> 30-day plan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23602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Leave with an asset your team can run on Monday.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07 - ROI, Adoption &amp; Enterprise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07.</a:t>
            </a:r>
          </a:p>
          <a:p>
            <a:r>
              <a:t> You will:</a:t>
            </a:r>
          </a:p>
          <a:p>
            <a:r>
              <a:t> Choose one narrow workflow from your own work.</a:t>
            </a:r>
          </a:p>
          <a:p>
            <a:r>
              <a:t> Fill the Capstone Design Canvas.</a:t>
            </a:r>
          </a:p>
          <a:p>
            <a:r>
              <a:t> Build the ChatGPT Enterprise workflow artifacts.</a:t>
            </a:r>
          </a:p>
          <a:p>
            <a:r>
              <a:t> Test a normal case and a tricky edge case.</a:t>
            </a:r>
          </a:p>
          <a:p>
            <a:r>
              <a:t> Complete the connector-readiness checklist.</a:t>
            </a:r>
          </a:p>
          <a:p>
            <a:r>
              <a:t> Fill the ROI worksheet.</a:t>
            </a:r>
          </a:p>
          <a:p>
            <a:r>
              <a:t> Draft your 30-day plan and present in five minutes.</a:t>
            </a:r>
          </a:p>
          <a:p>
            <a:r>
              <a:rPr b="1"/>
              <a:t> Deliverable:</a:t>
            </a:r>
            <a:r>
              <a:t> workflow, design canvas, review queue, test results, connector-readiness checklist, ROI worksheet, capstone rubric, and 30-day action plan.</a:t>
            </a:r>
          </a:p>
          <a:p>
            <a:r>
              <a:rPr b="1"/>
              <a:t> Time:</a:t>
            </a:r>
            <a:r>
              <a:t> ~60-75 min.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378299</TotalTime>
  <Words>1180</Words>
  <Application>Microsoft Macintosh PowerPoint</Application>
  <PresentationFormat>Custom</PresentationFormat>
  <Paragraphs>246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ROI, Adoption &amp; Enterprise Capstone</vt:lpstr>
      <vt:lpstr>Why This Module</vt:lpstr>
      <vt:lpstr>The Arc</vt:lpstr>
      <vt:lpstr>What AI Actually Costs</vt:lpstr>
      <vt:lpstr>Three Pricing Shapes</vt:lpstr>
      <vt:lpstr>Estimate Usage Cost</vt:lpstr>
      <vt:lpstr>Hidden Costs</vt:lpstr>
      <vt:lpstr>Worked Cost — Support Triage</vt:lpstr>
      <vt:lpstr>Measuring Impact</vt:lpstr>
      <vt:lpstr>Baseline First</vt:lpstr>
      <vt:lpstr>ROI Worksheet</vt:lpstr>
      <vt:lpstr>Worked ROI — Time Saved</vt:lpstr>
      <vt:lpstr>Worked ROI — Error Reduction</vt:lpstr>
      <vt:lpstr>Worked ROI — Bottom Line</vt:lpstr>
      <vt:lpstr>Read the Number Honestly</vt:lpstr>
      <vt:lpstr>Adoption Matters</vt:lpstr>
      <vt:lpstr>Pilot → Standardize → Scale</vt:lpstr>
      <vt:lpstr>Change Management</vt:lpstr>
      <vt:lpstr>Capstone Mission</vt:lpstr>
      <vt:lpstr>Capstone Building Blocks</vt:lpstr>
      <vt:lpstr>Worked Capstone — Support Triage</vt:lpstr>
      <vt:lpstr>Worked Triage Prompt</vt:lpstr>
      <vt:lpstr>Worked Output</vt:lpstr>
      <vt:lpstr>Capstone Design Canvas</vt:lpstr>
      <vt:lpstr>Capstone Rubric</vt:lpstr>
      <vt:lpstr>Present It in Five Minutes</vt:lpstr>
      <vt:lpstr>30-Day AI Action Plan</vt:lpstr>
      <vt:lpstr>Common Capstone Traps</vt:lpstr>
      <vt:lpstr>Module Review</vt:lpstr>
      <vt:lpstr>Lab 07 - ROI, Adoption &amp; Enterprise Capstone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2026-09-02T02:21:42Z</dcterms:modified>
</cp:coreProperties>
</file>